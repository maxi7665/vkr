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1" r:id="rId1"/>
    <p:sldMasterId id="2147483657" r:id="rId2"/>
    <p:sldMasterId id="2147483833" r:id="rId3"/>
  </p:sldMasterIdLst>
  <p:notesMasterIdLst>
    <p:notesMasterId r:id="rId18"/>
  </p:notesMasterIdLst>
  <p:handoutMasterIdLst>
    <p:handoutMasterId r:id="rId19"/>
  </p:handoutMasterIdLst>
  <p:sldIdLst>
    <p:sldId id="1171" r:id="rId4"/>
    <p:sldId id="1126" r:id="rId5"/>
    <p:sldId id="1173" r:id="rId6"/>
    <p:sldId id="1097" r:id="rId7"/>
    <p:sldId id="1172" r:id="rId8"/>
    <p:sldId id="1201" r:id="rId9"/>
    <p:sldId id="1205" r:id="rId10"/>
    <p:sldId id="1202" r:id="rId11"/>
    <p:sldId id="1203" r:id="rId12"/>
    <p:sldId id="1204" r:id="rId13"/>
    <p:sldId id="1185" r:id="rId14"/>
    <p:sldId id="1199" r:id="rId15"/>
    <p:sldId id="1200" r:id="rId16"/>
    <p:sldId id="1197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уководство" id="{E6ECDA77-1B8E-0E4F-8DDA-529EB99512FD}">
          <p14:sldIdLst>
            <p14:sldId id="1171"/>
            <p14:sldId id="1126"/>
            <p14:sldId id="1173"/>
            <p14:sldId id="1097"/>
            <p14:sldId id="1172"/>
            <p14:sldId id="1201"/>
            <p14:sldId id="1205"/>
            <p14:sldId id="1202"/>
            <p14:sldId id="1203"/>
            <p14:sldId id="1204"/>
            <p14:sldId id="1185"/>
            <p14:sldId id="1199"/>
            <p14:sldId id="1200"/>
            <p14:sldId id="119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Алексей Малышев" initials="АМ" lastIdx="8" clrIdx="0">
    <p:extLst>
      <p:ext uri="{19B8F6BF-5375-455C-9EA6-DF929625EA0E}">
        <p15:presenceInfo xmlns:p15="http://schemas.microsoft.com/office/powerpoint/2012/main" userId="8ae9c15f625b32bb" providerId="Windows Live"/>
      </p:ext>
    </p:extLst>
  </p:cmAuthor>
  <p:cmAuthor id="2" name="OCTS" initials="O" lastIdx="1" clrIdx="1">
    <p:extLst>
      <p:ext uri="{19B8F6BF-5375-455C-9EA6-DF929625EA0E}">
        <p15:presenceInfo xmlns:p15="http://schemas.microsoft.com/office/powerpoint/2012/main" userId="OCTS" providerId="None"/>
      </p:ext>
    </p:extLst>
  </p:cmAuthor>
  <p:cmAuthor id="3" name="Kostylev Andrey" initials="KA" lastIdx="1" clrIdx="2">
    <p:extLst>
      <p:ext uri="{19B8F6BF-5375-455C-9EA6-DF929625EA0E}">
        <p15:presenceInfo xmlns:p15="http://schemas.microsoft.com/office/powerpoint/2012/main" userId="146efb04217a1102" providerId="Windows Live"/>
      </p:ext>
    </p:extLst>
  </p:cmAuthor>
  <p:cmAuthor id="4" name="Elizaveta Kostyleva" initials="EK" lastIdx="1" clrIdx="3">
    <p:extLst>
      <p:ext uri="{19B8F6BF-5375-455C-9EA6-DF929625EA0E}">
        <p15:presenceInfo xmlns:p15="http://schemas.microsoft.com/office/powerpoint/2012/main" userId="S::ekostyleva@lifevantage.com::e5a115f0-bdb1-48b8-969c-0a472e870de3" providerId="AD"/>
      </p:ext>
    </p:extLst>
  </p:cmAuthor>
  <p:cmAuthor id="5" name="ОЦТС" initials="О" lastIdx="2" clrIdx="4">
    <p:extLst>
      <p:ext uri="{19B8F6BF-5375-455C-9EA6-DF929625EA0E}">
        <p15:presenceInfo xmlns:p15="http://schemas.microsoft.com/office/powerpoint/2012/main" userId="ОЦТС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AAC"/>
    <a:srgbClr val="DEF2FA"/>
    <a:srgbClr val="D4EEF8"/>
    <a:srgbClr val="4AB7E3"/>
    <a:srgbClr val="C3CCE7"/>
    <a:srgbClr val="E0F4E1"/>
    <a:srgbClr val="B6E4B8"/>
    <a:srgbClr val="2E7D32"/>
    <a:srgbClr val="F1F8F3"/>
    <a:srgbClr val="E7F3FD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90520" autoAdjust="0"/>
  </p:normalViewPr>
  <p:slideViewPr>
    <p:cSldViewPr snapToGrid="0" snapToObjects="1">
      <p:cViewPr varScale="1">
        <p:scale>
          <a:sx n="114" d="100"/>
          <a:sy n="114" d="100"/>
        </p:scale>
        <p:origin x="300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400" d="100"/>
        <a:sy n="400" d="100"/>
      </p:scale>
      <p:origin x="0" y="0"/>
    </p:cViewPr>
  </p:notesTextViewPr>
  <p:sorterViewPr>
    <p:cViewPr>
      <p:scale>
        <a:sx n="66" d="100"/>
        <a:sy n="66" d="100"/>
      </p:scale>
      <p:origin x="0" y="-7146"/>
    </p:cViewPr>
  </p:sorterViewPr>
  <p:notesViewPr>
    <p:cSldViewPr snapToGrid="0" snapToObjects="1">
      <p:cViewPr varScale="1">
        <p:scale>
          <a:sx n="85" d="100"/>
          <a:sy n="85" d="100"/>
        </p:scale>
        <p:origin x="380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A78F288-5E3C-4F81-AD43-7789565D29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2D620-2592-455C-9AF4-8E2D0C2F79A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FFCE6C-E7E6-4C35-A8B5-8F9784AA6873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5628E3-CFC5-471A-B6A2-9F949B2E814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586937-338C-4D39-8822-B1F000CF62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E77762-F59A-4FB1-90F9-50BE76F033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5588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D46D5B-6567-794D-8CBA-5CCA973D6774}" type="datetimeFigureOut">
              <a:rPr lang="ru-RU"/>
              <a:pPr/>
              <a:t>14.06.2026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EDE2F8-02D4-C448-B364-7246A6689E7F}" type="slidenum">
              <a:rPr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7934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  <a:pPr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741725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  <a:pPr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43589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  <a:pPr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24003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  <a:pPr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99486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  <a:pPr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097040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EDE2F8-02D4-C448-B364-7246A6689E7F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61841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  <a:pPr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718141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  <a:pPr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336746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ая стран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76EB76-0898-4F71-9685-0F9BE4E1F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CD38B1-ACC6-416C-AF72-6F91347F95C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4568243"/>
            <a:ext cx="6330950" cy="841155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3pPr marL="914400" indent="0">
              <a:buNone/>
              <a:defRPr/>
            </a:lvl3pPr>
          </a:lstStyle>
          <a:p>
            <a:pPr lvl="0"/>
            <a:r>
              <a:rPr lang="ru-RU" dirty="0"/>
              <a:t>Имя Фамилия 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F0C140D7-ACA5-419A-846F-D1888293EF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52598" y="5993952"/>
            <a:ext cx="3488540" cy="387798"/>
          </a:xfrm>
        </p:spPr>
        <p:txBody>
          <a:bodyPr/>
          <a:lstStyle>
            <a:lvl2pPr>
              <a:defRPr/>
            </a:lvl2pPr>
            <a:lvl3pPr marL="914400" indent="0">
              <a:buNone/>
              <a:defRPr/>
            </a:lvl3pPr>
          </a:lstStyle>
          <a:p>
            <a:pPr lvl="1"/>
            <a:r>
              <a:rPr lang="ru-RU" dirty="0"/>
              <a:t>Дата</a:t>
            </a:r>
          </a:p>
        </p:txBody>
      </p:sp>
    </p:spTree>
    <p:extLst>
      <p:ext uri="{BB962C8B-B14F-4D97-AF65-F5344CB8AC3E}">
        <p14:creationId xmlns:p14="http://schemas.microsoft.com/office/powerpoint/2010/main" val="2891415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- один бл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4CF1BEE-FB60-4C41-A4CB-1FA10956AD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7489825" cy="5040312"/>
          </a:xfrm>
        </p:spPr>
        <p:txBody>
          <a:bodyPr numCol="1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155870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65" userDrawn="1">
          <p15:clr>
            <a:srgbClr val="9FCC3B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- два бло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4CF1BEE-FB60-4C41-A4CB-1FA10956AD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5184775" cy="5040312"/>
          </a:xfrm>
        </p:spPr>
        <p:txBody>
          <a:bodyPr numCol="1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C75DE5C1-456E-4D90-87F0-D35E9FD23C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56364" y="1341437"/>
            <a:ext cx="5184775" cy="5040312"/>
          </a:xfrm>
        </p:spPr>
        <p:txBody>
          <a:bodyPr numCol="1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962484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- две колонки в одном блок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4CF1BEE-FB60-4C41-A4CB-1FA10956AD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11090275" cy="5040312"/>
          </a:xfrm>
        </p:spPr>
        <p:txBody>
          <a:bodyPr numCol="2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097472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1735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26875" y="5605171"/>
            <a:ext cx="1014262" cy="314912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88270A5-5B56-4CCE-84C6-4D75D2450723}"/>
              </a:ext>
            </a:extLst>
          </p:cNvPr>
          <p:cNvCxnSpPr>
            <a:cxnSpLocks/>
          </p:cNvCxnSpPr>
          <p:nvPr userDrawn="1"/>
        </p:nvCxnSpPr>
        <p:spPr>
          <a:xfrm>
            <a:off x="550863" y="6010277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2AFB8C0-5C8E-4D3D-ADF9-00059CE618CF}"/>
              </a:ext>
            </a:extLst>
          </p:cNvPr>
          <p:cNvSpPr txBox="1"/>
          <p:nvPr userDrawn="1"/>
        </p:nvSpPr>
        <p:spPr>
          <a:xfrm>
            <a:off x="9541404" y="6179006"/>
            <a:ext cx="209973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chemeClr val="tx2"/>
                </a:solidFill>
              </a:rPr>
              <a:t>https://guap.ru</a:t>
            </a:r>
            <a:endParaRPr lang="ru-RU" sz="14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8771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41843" y="5605171"/>
            <a:ext cx="1014262" cy="314912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88270A5-5B56-4CCE-84C6-4D75D2450723}"/>
              </a:ext>
            </a:extLst>
          </p:cNvPr>
          <p:cNvCxnSpPr>
            <a:cxnSpLocks/>
          </p:cNvCxnSpPr>
          <p:nvPr userDrawn="1"/>
        </p:nvCxnSpPr>
        <p:spPr>
          <a:xfrm>
            <a:off x="550863" y="6010277"/>
            <a:ext cx="10205243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2E00DBC-5DC3-4A2C-A94D-350C2F82CC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r="5385"/>
          <a:stretch/>
        </p:blipFill>
        <p:spPr>
          <a:xfrm>
            <a:off x="10776480" y="5500691"/>
            <a:ext cx="864658" cy="91387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FC432CA-A470-414A-9A8F-5EF0FAB4F9C9}"/>
              </a:ext>
            </a:extLst>
          </p:cNvPr>
          <p:cNvSpPr txBox="1"/>
          <p:nvPr userDrawn="1"/>
        </p:nvSpPr>
        <p:spPr>
          <a:xfrm>
            <a:off x="8676746" y="6179006"/>
            <a:ext cx="209973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chemeClr val="tx2"/>
                </a:solidFill>
              </a:rPr>
              <a:t>https://guap.ru</a:t>
            </a:r>
            <a:endParaRPr lang="ru-RU" sz="1400" b="1" dirty="0">
              <a:solidFill>
                <a:schemeClr val="tx2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A6AFA2-D81A-4798-AEC0-3F4A7A8C22AC}"/>
              </a:ext>
            </a:extLst>
          </p:cNvPr>
          <p:cNvSpPr txBox="1"/>
          <p:nvPr userDrawn="1"/>
        </p:nvSpPr>
        <p:spPr>
          <a:xfrm>
            <a:off x="571238" y="6179006"/>
            <a:ext cx="320506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dirty="0">
                <a:solidFill>
                  <a:schemeClr val="bg1">
                    <a:lumMod val="50000"/>
                  </a:schemeClr>
                </a:solidFill>
              </a:rPr>
              <a:t>© </a:t>
            </a:r>
            <a:r>
              <a:rPr lang="ru-RU" sz="1100" b="0" dirty="0">
                <a:solidFill>
                  <a:schemeClr val="bg1">
                    <a:lumMod val="50000"/>
                  </a:schemeClr>
                </a:solidFill>
              </a:rPr>
              <a:t>ГУАП, 2023</a:t>
            </a:r>
            <a:endParaRPr lang="ru-RU" sz="1400" b="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0039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3 - для выступлени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FFF08F3-1FC8-4409-A953-82A3AF7771C7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 l="-7937" t="-5796" r="-5797" b="-793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9994" y="1141883"/>
            <a:ext cx="2254761" cy="70006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2E00DBC-5DC3-4A2C-A94D-350C2F82CC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r="5385"/>
          <a:stretch/>
        </p:blipFill>
        <p:spPr>
          <a:xfrm>
            <a:off x="10363289" y="949059"/>
            <a:ext cx="1303250" cy="137742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FC432CA-A470-414A-9A8F-5EF0FAB4F9C9}"/>
              </a:ext>
            </a:extLst>
          </p:cNvPr>
          <p:cNvSpPr txBox="1"/>
          <p:nvPr userDrawn="1"/>
        </p:nvSpPr>
        <p:spPr>
          <a:xfrm>
            <a:off x="8147402" y="1734228"/>
            <a:ext cx="2099734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57200" marR="0" lvl="1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https://guap.ru</a:t>
            </a:r>
            <a:endParaRPr lang="ru-RU" sz="15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1509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4 - с контакт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FFF08F3-1FC8-4409-A953-82A3AF7771C7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 l="-7937" t="-5796" r="-5797" b="-793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9994" y="1141883"/>
            <a:ext cx="2254761" cy="70006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2E00DBC-5DC3-4A2C-A94D-350C2F82CC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r="5385"/>
          <a:stretch/>
        </p:blipFill>
        <p:spPr>
          <a:xfrm>
            <a:off x="10363289" y="949059"/>
            <a:ext cx="1303250" cy="137742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FC432CA-A470-414A-9A8F-5EF0FAB4F9C9}"/>
              </a:ext>
            </a:extLst>
          </p:cNvPr>
          <p:cNvSpPr txBox="1"/>
          <p:nvPr userDrawn="1"/>
        </p:nvSpPr>
        <p:spPr>
          <a:xfrm>
            <a:off x="8147402" y="1734228"/>
            <a:ext cx="2099734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57200" marR="0" lvl="1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https://guap.ru</a:t>
            </a:r>
            <a:endParaRPr lang="ru-RU" sz="15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3FAF823-6E65-4BE2-B22A-CEAA3977E75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56363" y="3275544"/>
            <a:ext cx="5184775" cy="1997341"/>
          </a:xfrm>
        </p:spPr>
        <p:txBody>
          <a:bodyPr anchor="ctr" anchorCtr="0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</p:spTree>
    <p:extLst>
      <p:ext uri="{BB962C8B-B14F-4D97-AF65-F5344CB8AC3E}">
        <p14:creationId xmlns:p14="http://schemas.microsoft.com/office/powerpoint/2010/main" val="4001576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3309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7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9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A26B8BC-9AE2-41D8-8A90-8D1C0A2A554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/>
            <a:stretch>
              <a:fillRect l="-7937" t="-5796" r="-5797" b="-793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5009951-9659-4924-B8D1-D9994BE1E4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6155"/>
          <a:stretch/>
        </p:blipFill>
        <p:spPr>
          <a:xfrm>
            <a:off x="550865" y="304376"/>
            <a:ext cx="2827336" cy="109537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39E3CC-EBAD-4C68-8215-E3D1E3388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2509678"/>
            <a:ext cx="8051638" cy="1325563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220187D-590C-4FB1-A787-08B69F583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4568243"/>
            <a:ext cx="6234948" cy="100478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Дата</a:t>
            </a:r>
          </a:p>
        </p:txBody>
      </p:sp>
    </p:spTree>
    <p:extLst>
      <p:ext uri="{BB962C8B-B14F-4D97-AF65-F5344CB8AC3E}">
        <p14:creationId xmlns:p14="http://schemas.microsoft.com/office/powerpoint/2010/main" val="1624853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r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32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7" userDrawn="1">
          <p15:clr>
            <a:srgbClr val="F26B43"/>
          </p15:clr>
        </p15:guide>
        <p15:guide id="2" pos="7333" userDrawn="1">
          <p15:clr>
            <a:srgbClr val="F26B43"/>
          </p15:clr>
        </p15:guide>
        <p15:guide id="3" orient="horz" pos="40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EFB9A11F-72FA-0A44-9653-48C9EECB7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ru-RU" dirty="0"/>
              <a:t>Заголовок слайда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23DE3AE-88ED-4D7E-9545-2150C37B908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26875" y="407976"/>
            <a:ext cx="1014262" cy="314912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95CF6A84-AC35-45BE-AA65-F59DCCC45A75}"/>
              </a:ext>
            </a:extLst>
          </p:cNvPr>
          <p:cNvCxnSpPr>
            <a:cxnSpLocks/>
          </p:cNvCxnSpPr>
          <p:nvPr userDrawn="1"/>
        </p:nvCxnSpPr>
        <p:spPr>
          <a:xfrm>
            <a:off x="550863" y="968502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Текст 2">
            <a:extLst>
              <a:ext uri="{FF2B5EF4-FFF2-40B4-BE49-F238E27FC236}">
                <a16:creationId xmlns:a16="http://schemas.microsoft.com/office/drawing/2014/main" id="{3B768B2F-9C22-468C-B230-607F8CFF7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2" y="1341437"/>
            <a:ext cx="10515600" cy="420166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Подзаголовок</a:t>
            </a:r>
          </a:p>
          <a:p>
            <a:pPr lvl="1"/>
            <a:r>
              <a:rPr lang="ru-RU" dirty="0"/>
              <a:t>Заголовок таблицы</a:t>
            </a:r>
          </a:p>
          <a:p>
            <a:pPr lvl="2"/>
            <a:r>
              <a:rPr lang="ru-RU" dirty="0"/>
              <a:t>Подпись рисунка</a:t>
            </a:r>
          </a:p>
          <a:p>
            <a:pPr lvl="3"/>
            <a:r>
              <a:rPr lang="ru-RU" dirty="0"/>
              <a:t>Текст</a:t>
            </a:r>
          </a:p>
          <a:p>
            <a:pPr lvl="4"/>
            <a:r>
              <a:rPr lang="ru-RU" dirty="0"/>
              <a:t>Выделенный текст</a:t>
            </a:r>
          </a:p>
          <a:p>
            <a:pPr lvl="5"/>
            <a:r>
              <a:rPr lang="ru-RU" dirty="0"/>
              <a:t>Маркеры</a:t>
            </a:r>
          </a:p>
          <a:p>
            <a:pPr lvl="6"/>
            <a:r>
              <a:rPr lang="ru-RU" dirty="0"/>
              <a:t>Нумерация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44A2A7-9511-4B2D-A046-C71363808B05}"/>
              </a:ext>
            </a:extLst>
          </p:cNvPr>
          <p:cNvSpPr txBox="1"/>
          <p:nvPr userDrawn="1"/>
        </p:nvSpPr>
        <p:spPr>
          <a:xfrm>
            <a:off x="9295390" y="6513813"/>
            <a:ext cx="242887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261FCC40-BD7D-499B-BF07-C5DEC022620E}" type="slidenum">
              <a:rPr lang="ru-RU" sz="1200" kern="1200" smtClean="0">
                <a:solidFill>
                  <a:schemeClr val="tx2">
                    <a:lumMod val="90000"/>
                  </a:schemeClr>
                </a:solidFill>
                <a:latin typeface="+mn-lt"/>
                <a:ea typeface="+mn-ea"/>
                <a:cs typeface="+mn-cs"/>
              </a:rPr>
              <a:pPr algn="r"/>
              <a:t>‹#›</a:t>
            </a:fld>
            <a:r>
              <a:rPr lang="en-US" sz="1200" kern="1200" dirty="0">
                <a:solidFill>
                  <a:schemeClr val="tx2">
                    <a:lumMod val="90000"/>
                  </a:schemeClr>
                </a:solidFill>
                <a:latin typeface="+mn-lt"/>
                <a:ea typeface="+mn-ea"/>
                <a:cs typeface="+mn-cs"/>
              </a:rPr>
              <a:t>/14</a:t>
            </a:r>
          </a:p>
        </p:txBody>
      </p:sp>
    </p:spTree>
    <p:extLst>
      <p:ext uri="{BB962C8B-B14F-4D97-AF65-F5344CB8AC3E}">
        <p14:creationId xmlns:p14="http://schemas.microsoft.com/office/powerpoint/2010/main" val="684128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1" r:id="rId2"/>
    <p:sldLayoutId id="2147483759" r:id="rId3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800" b="1" kern="1200">
          <a:solidFill>
            <a:schemeClr val="accent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SzPct val="120000"/>
        <a:buFont typeface="Wingdings" panose="05000000000000000000" pitchFamily="2" charset="2"/>
        <a:buNone/>
        <a:defRPr sz="14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Font typeface="+mj-lt"/>
        <a:buNone/>
        <a:tabLst>
          <a:tab pos="269875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None/>
        <a:defRPr sz="1600" b="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2"/>
        </a:buClr>
        <a:buFont typeface="Wingdings" panose="05000000000000000000" pitchFamily="2" charset="2"/>
        <a:buChar char="§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271463" indent="-271463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+mj-lt"/>
        <a:buAutoNum type="arabi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45" userDrawn="1">
          <p15:clr>
            <a:srgbClr val="F26B43"/>
          </p15:clr>
        </p15:guide>
        <p15:guide id="2" pos="347">
          <p15:clr>
            <a:srgbClr val="F26B43"/>
          </p15:clr>
        </p15:guide>
        <p15:guide id="3" orient="horz" pos="4020">
          <p15:clr>
            <a:srgbClr val="F26B43"/>
          </p15:clr>
        </p15:guide>
        <p15:guide id="4" pos="7333">
          <p15:clr>
            <a:srgbClr val="F26B43"/>
          </p15:clr>
        </p15:guide>
        <p15:guide id="5" pos="3613" userDrawn="1">
          <p15:clr>
            <a:srgbClr val="F26B43"/>
          </p15:clr>
        </p15:guide>
        <p15:guide id="6" pos="4067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EFB9A11F-72FA-0A44-9653-48C9EECB7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ru-RU" dirty="0"/>
              <a:t>Заголовок слайда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23DE3AE-88ED-4D7E-9545-2150C37B908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626875" y="407976"/>
            <a:ext cx="1014262" cy="314912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95CF6A84-AC35-45BE-AA65-F59DCCC45A75}"/>
              </a:ext>
            </a:extLst>
          </p:cNvPr>
          <p:cNvCxnSpPr>
            <a:cxnSpLocks/>
          </p:cNvCxnSpPr>
          <p:nvPr userDrawn="1"/>
        </p:nvCxnSpPr>
        <p:spPr>
          <a:xfrm>
            <a:off x="550863" y="968502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Текст 2">
            <a:extLst>
              <a:ext uri="{FF2B5EF4-FFF2-40B4-BE49-F238E27FC236}">
                <a16:creationId xmlns:a16="http://schemas.microsoft.com/office/drawing/2014/main" id="{3B768B2F-9C22-468C-B230-607F8CFF7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2" y="1341437"/>
            <a:ext cx="10515600" cy="420166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Подзаголовок</a:t>
            </a:r>
          </a:p>
          <a:p>
            <a:pPr lvl="1"/>
            <a:r>
              <a:rPr lang="ru-RU" dirty="0"/>
              <a:t>Заголовок таблицы</a:t>
            </a:r>
          </a:p>
          <a:p>
            <a:pPr lvl="2"/>
            <a:r>
              <a:rPr lang="ru-RU" dirty="0"/>
              <a:t>Подпись рисунка</a:t>
            </a:r>
          </a:p>
          <a:p>
            <a:pPr lvl="3"/>
            <a:r>
              <a:rPr lang="ru-RU" dirty="0"/>
              <a:t>Текст</a:t>
            </a:r>
          </a:p>
          <a:p>
            <a:pPr lvl="4"/>
            <a:r>
              <a:rPr lang="ru-RU" dirty="0"/>
              <a:t>Выделенный текст</a:t>
            </a:r>
          </a:p>
          <a:p>
            <a:pPr lvl="5"/>
            <a:r>
              <a:rPr lang="ru-RU" dirty="0"/>
              <a:t>Маркеры</a:t>
            </a:r>
          </a:p>
          <a:p>
            <a:pPr lvl="6"/>
            <a:r>
              <a:rPr lang="ru-RU" dirty="0"/>
              <a:t>Нумерация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14C9C7-3F3B-4FAE-B19C-B28F0A67B7F7}"/>
              </a:ext>
            </a:extLst>
          </p:cNvPr>
          <p:cNvSpPr txBox="1"/>
          <p:nvPr userDrawn="1"/>
        </p:nvSpPr>
        <p:spPr>
          <a:xfrm>
            <a:off x="9212262" y="6513813"/>
            <a:ext cx="242887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261FCC40-BD7D-499B-BF07-C5DEC022620E}" type="slidenum">
              <a:rPr lang="ru-RU" sz="1200" kern="1200" smtClean="0">
                <a:solidFill>
                  <a:schemeClr val="tx2">
                    <a:lumMod val="90000"/>
                  </a:schemeClr>
                </a:solidFill>
                <a:latin typeface="+mn-lt"/>
                <a:ea typeface="+mn-ea"/>
                <a:cs typeface="+mn-cs"/>
              </a:rPr>
              <a:pPr algn="r"/>
              <a:t>‹#›</a:t>
            </a:fld>
            <a:endParaRPr lang="ru-RU" sz="1200" kern="1200" dirty="0">
              <a:solidFill>
                <a:schemeClr val="tx2">
                  <a:lumMod val="9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6249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6" r:id="rId2"/>
    <p:sldLayoutId id="2147483847" r:id="rId3"/>
    <p:sldLayoutId id="2147483849" r:id="rId4"/>
    <p:sldLayoutId id="2147483850" r:id="rId5"/>
    <p:sldLayoutId id="2147483843" r:id="rId6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800" b="1" kern="1200">
          <a:solidFill>
            <a:schemeClr val="accent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SzPct val="120000"/>
        <a:buFont typeface="Wingdings" panose="05000000000000000000" pitchFamily="2" charset="2"/>
        <a:buNone/>
        <a:defRPr sz="14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Font typeface="+mj-lt"/>
        <a:buNone/>
        <a:tabLst>
          <a:tab pos="269875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None/>
        <a:defRPr sz="1600" b="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2"/>
        </a:buClr>
        <a:buFont typeface="Wingdings" panose="05000000000000000000" pitchFamily="2" charset="2"/>
        <a:buChar char="§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271463" indent="-271463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+mj-lt"/>
        <a:buAutoNum type="arabi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45" userDrawn="1">
          <p15:clr>
            <a:srgbClr val="F26B43"/>
          </p15:clr>
        </p15:guide>
        <p15:guide id="2" pos="347">
          <p15:clr>
            <a:srgbClr val="F26B43"/>
          </p15:clr>
        </p15:guide>
        <p15:guide id="3" orient="horz" pos="4020">
          <p15:clr>
            <a:srgbClr val="F26B43"/>
          </p15:clr>
        </p15:guide>
        <p15:guide id="4" pos="7333">
          <p15:clr>
            <a:srgbClr val="F26B43"/>
          </p15:clr>
        </p15:guide>
        <p15:guide id="5" pos="4067" userDrawn="1">
          <p15:clr>
            <a:srgbClr val="F26B43"/>
          </p15:clr>
        </p15:guide>
        <p15:guide id="6" pos="361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gif"/><Relationship Id="rId4" Type="http://schemas.openxmlformats.org/officeDocument/2006/relationships/image" Target="../media/image8.gi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A5BC97-99E1-4827-A5AA-5E9EBED1B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2115671"/>
            <a:ext cx="8270407" cy="1483535"/>
          </a:xfrm>
        </p:spPr>
        <p:txBody>
          <a:bodyPr>
            <a:normAutofit fontScale="90000"/>
          </a:bodyPr>
          <a:lstStyle/>
          <a:p>
            <a:r>
              <a:rPr lang="ru-RU" dirty="0"/>
              <a:t>Разработка системы позиционного отслеживания транспортных средств с обработкой событий в реальном времени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1EA8D34-BBBA-48A9-9B83-130C3E8DC9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4" y="4258962"/>
            <a:ext cx="6330950" cy="841155"/>
          </a:xfrm>
        </p:spPr>
        <p:txBody>
          <a:bodyPr>
            <a:normAutofit/>
          </a:bodyPr>
          <a:lstStyle/>
          <a:p>
            <a:r>
              <a:rPr lang="ru-RU" dirty="0"/>
              <a:t>Быстров М.Д., 4131з</a:t>
            </a:r>
          </a:p>
          <a:p>
            <a:endParaRPr lang="ru-RU" dirty="0"/>
          </a:p>
          <a:p>
            <a:r>
              <a:rPr lang="ru-RU" sz="1800" b="0" i="0" dirty="0">
                <a:solidFill>
                  <a:srgbClr val="272D3A"/>
                </a:solidFill>
                <a:latin typeface="Arial"/>
              </a:rPr>
              <a:t>Фомин А.В., </a:t>
            </a:r>
            <a:r>
              <a:rPr lang="ru-RU" sz="1800" dirty="0">
                <a:solidFill>
                  <a:srgbClr val="272D3A"/>
                </a:solidFill>
                <a:latin typeface="Arial"/>
              </a:rPr>
              <a:t>к.т.н., доц.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C26AC53-244B-4289-B3B5-D31C1BFD52F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92500" lnSpcReduction="20000"/>
          </a:bodyPr>
          <a:lstStyle/>
          <a:p>
            <a:pPr lvl="1"/>
            <a:r>
              <a:rPr lang="ru-RU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2705815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F629FCE6-17AE-4664-8F63-4E9A710F8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</a:t>
            </a:r>
          </a:p>
        </p:txBody>
      </p:sp>
      <p:sp>
        <p:nvSpPr>
          <p:cNvPr id="13" name="Текст 4">
            <a:extLst>
              <a:ext uri="{FF2B5EF4-FFF2-40B4-BE49-F238E27FC236}">
                <a16:creationId xmlns:a16="http://schemas.microsoft.com/office/drawing/2014/main" id="{993A51E0-594E-4829-B37D-2694C1C3ED60}"/>
              </a:ext>
            </a:extLst>
          </p:cNvPr>
          <p:cNvSpPr txBox="1">
            <a:spLocks/>
          </p:cNvSpPr>
          <p:nvPr/>
        </p:nvSpPr>
        <p:spPr>
          <a:xfrm>
            <a:off x="6456362" y="4065973"/>
            <a:ext cx="5184775" cy="2315777"/>
          </a:xfrm>
          <a:prstGeom prst="rect">
            <a:avLst/>
          </a:prstGeom>
        </p:spPr>
        <p:txBody>
          <a:bodyPr vert="horz" lIns="0" tIns="0" rIns="0" bIns="0" numCol="1" spcCol="72000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100"/>
              </a:spcAft>
              <a:buFont typeface="Arial" panose="020B0604020202020204" pitchFamily="34" charset="0"/>
              <a:buNone/>
              <a:defRPr sz="14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100"/>
              </a:spcAft>
              <a:buClr>
                <a:schemeClr val="accent1">
                  <a:lumMod val="50000"/>
                </a:schemeClr>
              </a:buClr>
              <a:buSzPct val="120000"/>
              <a:buFont typeface="Wingdings" panose="05000000000000000000" pitchFamily="2" charset="2"/>
              <a:buNone/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100"/>
              </a:spcAft>
              <a:buClr>
                <a:schemeClr val="accent1">
                  <a:lumMod val="50000"/>
                </a:schemeClr>
              </a:buClr>
              <a:buFont typeface="+mj-lt"/>
              <a:buNone/>
              <a:tabLst>
                <a:tab pos="269875" algn="l"/>
              </a:tabLst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1463" indent="-271463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100"/>
              </a:spcAft>
              <a:buFont typeface="Wingdings" panose="05000000000000000000" pitchFamily="2" charset="2"/>
              <a:buChar char="§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1463" indent="-271463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100"/>
              </a:spcAft>
              <a:buFont typeface="+mj-lt"/>
              <a:buAutoNum type="arabicPeriod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5"/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1F1301-B7F1-4E7C-A520-ECE432D3D4D6}"/>
              </a:ext>
            </a:extLst>
          </p:cNvPr>
          <p:cNvSpPr txBox="1"/>
          <p:nvPr/>
        </p:nvSpPr>
        <p:spPr>
          <a:xfrm>
            <a:off x="506136" y="2475947"/>
            <a:ext cx="11135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i="1" dirty="0">
                <a:solidFill>
                  <a:srgbClr val="005AA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П</a:t>
            </a:r>
            <a:r>
              <a:rPr 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ри выполнении позиционного мониторинга и диспетчеризаци</a:t>
            </a:r>
            <a:r>
              <a:rPr lang="ru-RU" i="1" dirty="0">
                <a:solidFill>
                  <a:srgbClr val="005AA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и </a:t>
            </a:r>
            <a:r>
              <a:rPr 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ТС необходимо иметь </a:t>
            </a:r>
            <a:r>
              <a:rPr lang="ru-RU" i="1" dirty="0">
                <a:solidFill>
                  <a:srgbClr val="005AA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возможность </a:t>
            </a:r>
            <a:r>
              <a:rPr lang="ru-RU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пространственно-временного поиска телеметрии и зонального отслеживания в реальном времени.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D78E16-A3E0-4983-8486-C74E3AFFA52D}"/>
              </a:ext>
            </a:extLst>
          </p:cNvPr>
          <p:cNvSpPr txBox="1"/>
          <p:nvPr/>
        </p:nvSpPr>
        <p:spPr>
          <a:xfrm>
            <a:off x="550863" y="1071726"/>
            <a:ext cx="11090274" cy="715089"/>
          </a:xfrm>
          <a:prstGeom prst="round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ru-RU" b="1" i="1" dirty="0">
                <a:solidFill>
                  <a:srgbClr val="005AA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С</a:t>
            </a:r>
            <a:r>
              <a:rPr lang="ru-RU" b="1" i="1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проектировать и реализовать систему позиционного отслеживания транспортных средств с обработкой событий в реальном времени.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FB8DE4-0525-4C36-9638-5B6E47781B77}"/>
              </a:ext>
            </a:extLst>
          </p:cNvPr>
          <p:cNvSpPr txBox="1"/>
          <p:nvPr/>
        </p:nvSpPr>
        <p:spPr>
          <a:xfrm>
            <a:off x="550863" y="1986403"/>
            <a:ext cx="1690727" cy="408623"/>
          </a:xfrm>
          <a:prstGeom prst="round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ru-RU" sz="1800" i="0" dirty="0">
                <a:solidFill>
                  <a:srgbClr val="005BAA"/>
                </a:solidFill>
                <a:latin typeface="Arial"/>
              </a:rPr>
              <a:t>Проблема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56F5E5-C61E-42DE-873D-63923C375AE1}"/>
              </a:ext>
            </a:extLst>
          </p:cNvPr>
          <p:cNvSpPr txBox="1"/>
          <p:nvPr/>
        </p:nvSpPr>
        <p:spPr>
          <a:xfrm>
            <a:off x="550863" y="3889058"/>
            <a:ext cx="110902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i="1" dirty="0">
                <a:solidFill>
                  <a:srgbClr val="005AA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Применение методов пространственной дискретизации для создания пространственных индексов в памяти и в базе данных. Разработка системы отслеживания с использованием </a:t>
            </a:r>
            <a:r>
              <a:rPr lang="ru-RU" i="1" dirty="0" err="1">
                <a:solidFill>
                  <a:srgbClr val="005AA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микросервисной</a:t>
            </a:r>
            <a:r>
              <a:rPr lang="ru-RU" i="1" dirty="0">
                <a:solidFill>
                  <a:srgbClr val="005AA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архитектуры с предоставлением пользовательского веб-интерфейса.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B3C664-EC49-49B0-9C4D-36792F0F08A2}"/>
              </a:ext>
            </a:extLst>
          </p:cNvPr>
          <p:cNvSpPr txBox="1"/>
          <p:nvPr/>
        </p:nvSpPr>
        <p:spPr>
          <a:xfrm>
            <a:off x="506136" y="5458420"/>
            <a:ext cx="1098671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i="1" dirty="0">
                <a:solidFill>
                  <a:srgbClr val="005AA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Ожидаемый результат: система</a:t>
            </a:r>
            <a:r>
              <a:rPr lang="ru-RU" b="1" i="1" dirty="0">
                <a:solidFill>
                  <a:srgbClr val="005AA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ru-RU" i="1" dirty="0">
                <a:solidFill>
                  <a:srgbClr val="005AA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обработки телеметрических данных, обладающая высокой производительностью, отказоустойчивостью и потенциалом масштабирования, предоставляющая возможности, повышающие эффективность процесса отслеживания транспортных средств.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F76D17-C3BA-4FD6-9896-F0F25A5D565E}"/>
              </a:ext>
            </a:extLst>
          </p:cNvPr>
          <p:cNvSpPr txBox="1"/>
          <p:nvPr/>
        </p:nvSpPr>
        <p:spPr>
          <a:xfrm>
            <a:off x="550863" y="3390548"/>
            <a:ext cx="1690727" cy="408623"/>
          </a:xfrm>
          <a:prstGeom prst="round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ru-RU" sz="1800" i="0" dirty="0">
                <a:solidFill>
                  <a:srgbClr val="005BAA"/>
                </a:solidFill>
                <a:latin typeface="Arial"/>
              </a:rPr>
              <a:t>Подход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DEA902-6418-46A6-8046-997384C7AED4}"/>
              </a:ext>
            </a:extLst>
          </p:cNvPr>
          <p:cNvSpPr txBox="1"/>
          <p:nvPr/>
        </p:nvSpPr>
        <p:spPr>
          <a:xfrm>
            <a:off x="550862" y="5031807"/>
            <a:ext cx="3178456" cy="408623"/>
          </a:xfrm>
          <a:prstGeom prst="round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ru-RU" sz="1800" i="0" dirty="0">
                <a:solidFill>
                  <a:srgbClr val="005BAA"/>
                </a:solidFill>
                <a:latin typeface="Arial"/>
              </a:rPr>
              <a:t>Ожидаемый результат</a:t>
            </a:r>
          </a:p>
        </p:txBody>
      </p:sp>
    </p:spTree>
    <p:extLst>
      <p:ext uri="{BB962C8B-B14F-4D97-AF65-F5344CB8AC3E}">
        <p14:creationId xmlns:p14="http://schemas.microsoft.com/office/powerpoint/2010/main" val="54731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F629FCE6-17AE-4664-8F63-4E9A710F8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D78059-7F1F-4351-A5C4-E90E22E132B3}"/>
              </a:ext>
            </a:extLst>
          </p:cNvPr>
          <p:cNvSpPr txBox="1"/>
          <p:nvPr/>
        </p:nvSpPr>
        <p:spPr>
          <a:xfrm>
            <a:off x="968368" y="1028343"/>
            <a:ext cx="1113500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dirty="0">
                <a:solidFill>
                  <a:srgbClr val="005AA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П</a:t>
            </a:r>
            <a:r>
              <a:rPr 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роанализировать предметную область, её современное состояние, обосновать актуальность разработки;</a:t>
            </a:r>
          </a:p>
          <a:p>
            <a:pPr algn="l"/>
            <a:endParaRPr lang="en-US" i="0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l"/>
            <a:r>
              <a:rPr 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Провести этап</a:t>
            </a:r>
            <a:r>
              <a:rPr lang="ru-RU" dirty="0">
                <a:solidFill>
                  <a:srgbClr val="005AA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ы выявления, анализа и документирования требований к разрабатываемой системе;</a:t>
            </a:r>
          </a:p>
          <a:p>
            <a:pPr algn="l"/>
            <a:endParaRPr lang="ru-RU" dirty="0">
              <a:solidFill>
                <a:srgbClr val="005AA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l"/>
            <a:r>
              <a:rPr lang="ru-RU" dirty="0">
                <a:solidFill>
                  <a:srgbClr val="005AA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Описать возможные методы решения задач; выбрать наиболее эффективные;</a:t>
            </a:r>
          </a:p>
          <a:p>
            <a:pPr algn="l"/>
            <a:endParaRPr lang="ru-RU" dirty="0">
              <a:solidFill>
                <a:srgbClr val="005AA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l"/>
            <a:r>
              <a:rPr lang="ru-RU" dirty="0">
                <a:solidFill>
                  <a:srgbClr val="005AA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Обосновать выбор технологий для реализации системы;</a:t>
            </a:r>
          </a:p>
          <a:p>
            <a:pPr algn="l"/>
            <a:endParaRPr lang="ru-RU" dirty="0">
              <a:solidFill>
                <a:srgbClr val="005AA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l"/>
            <a:r>
              <a:rPr 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Спроектировать архитектуру системы и структуру обрабатываемых и хранимых данных;</a:t>
            </a:r>
          </a:p>
          <a:p>
            <a:pPr algn="l"/>
            <a:endParaRPr lang="ru-RU" i="0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l"/>
            <a:r>
              <a:rPr lang="ru-RU" dirty="0">
                <a:solidFill>
                  <a:srgbClr val="005AA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Реализовать и описать реализованные модули системы, их назначение и алгоритмы работы;</a:t>
            </a:r>
          </a:p>
          <a:p>
            <a:pPr algn="l"/>
            <a:endParaRPr lang="ru-RU" dirty="0">
              <a:solidFill>
                <a:srgbClr val="005AA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l"/>
            <a:r>
              <a:rPr 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Провести </a:t>
            </a:r>
            <a:r>
              <a:rPr lang="ru-RU" dirty="0">
                <a:solidFill>
                  <a:srgbClr val="005AA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тестирование системы, описать результаты тестирования;</a:t>
            </a:r>
          </a:p>
          <a:p>
            <a:pPr algn="l"/>
            <a:endParaRPr lang="ru-RU" dirty="0">
              <a:solidFill>
                <a:srgbClr val="005AA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l"/>
            <a:r>
              <a:rPr lang="ru-RU" i="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О</a:t>
            </a:r>
            <a:r>
              <a:rPr lang="ru-RU" dirty="0">
                <a:solidFill>
                  <a:srgbClr val="005AA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писать ввод в эксплуатацию системы;</a:t>
            </a:r>
          </a:p>
          <a:p>
            <a:pPr algn="l"/>
            <a:endParaRPr lang="ru-RU" dirty="0">
              <a:solidFill>
                <a:srgbClr val="005AA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l"/>
            <a:r>
              <a:rPr lang="ru-RU" dirty="0">
                <a:solidFill>
                  <a:srgbClr val="005AAA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Определить пути дальнейшего развития.</a:t>
            </a:r>
          </a:p>
          <a:p>
            <a:pPr marL="342900" indent="-342900" algn="l">
              <a:buAutoNum type="arabicPeriod"/>
            </a:pPr>
            <a:endParaRPr lang="ru-RU" i="0" dirty="0">
              <a:solidFill>
                <a:srgbClr val="005AAA"/>
              </a:solidFill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" name="Oval 9">
            <a:extLst>
              <a:ext uri="{FF2B5EF4-FFF2-40B4-BE49-F238E27FC236}">
                <a16:creationId xmlns:a16="http://schemas.microsoft.com/office/drawing/2014/main" id="{4DF6191E-643A-4338-81F2-16DA27B8D898}"/>
              </a:ext>
            </a:extLst>
          </p:cNvPr>
          <p:cNvSpPr/>
          <p:nvPr/>
        </p:nvSpPr>
        <p:spPr>
          <a:xfrm>
            <a:off x="550863" y="1150279"/>
            <a:ext cx="347472" cy="347472"/>
          </a:xfrm>
          <a:prstGeom prst="ellipse">
            <a:avLst/>
          </a:prstGeom>
          <a:solidFill>
            <a:srgbClr val="005BAA"/>
          </a:solidFill>
          <a:ln>
            <a:solidFill>
              <a:srgbClr val="005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Oval 9">
            <a:extLst>
              <a:ext uri="{FF2B5EF4-FFF2-40B4-BE49-F238E27FC236}">
                <a16:creationId xmlns:a16="http://schemas.microsoft.com/office/drawing/2014/main" id="{79F08CB4-D28B-404B-BAE6-C3FB63E2AC57}"/>
              </a:ext>
            </a:extLst>
          </p:cNvPr>
          <p:cNvSpPr/>
          <p:nvPr/>
        </p:nvSpPr>
        <p:spPr>
          <a:xfrm>
            <a:off x="550863" y="1848293"/>
            <a:ext cx="347472" cy="347472"/>
          </a:xfrm>
          <a:prstGeom prst="ellipse">
            <a:avLst/>
          </a:prstGeom>
          <a:solidFill>
            <a:srgbClr val="005BAA"/>
          </a:solidFill>
          <a:ln>
            <a:solidFill>
              <a:srgbClr val="005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>
                <a:solidFill>
                  <a:srgbClr val="FFFFFF"/>
                </a:solidFill>
                <a:latin typeface="Arial"/>
              </a:rPr>
              <a:t>2</a:t>
            </a:r>
            <a:endParaRPr sz="12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Oval 9">
            <a:extLst>
              <a:ext uri="{FF2B5EF4-FFF2-40B4-BE49-F238E27FC236}">
                <a16:creationId xmlns:a16="http://schemas.microsoft.com/office/drawing/2014/main" id="{5000A295-493C-4958-9AD1-4182FC6D0703}"/>
              </a:ext>
            </a:extLst>
          </p:cNvPr>
          <p:cNvSpPr/>
          <p:nvPr/>
        </p:nvSpPr>
        <p:spPr>
          <a:xfrm>
            <a:off x="550863" y="2372571"/>
            <a:ext cx="347472" cy="347472"/>
          </a:xfrm>
          <a:prstGeom prst="ellipse">
            <a:avLst/>
          </a:prstGeom>
          <a:solidFill>
            <a:srgbClr val="005BAA"/>
          </a:solidFill>
          <a:ln>
            <a:solidFill>
              <a:srgbClr val="005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>
                <a:solidFill>
                  <a:srgbClr val="FFFFFF"/>
                </a:solidFill>
                <a:latin typeface="Arial"/>
              </a:rPr>
              <a:t>3</a:t>
            </a:r>
            <a:endParaRPr sz="12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Oval 9">
            <a:extLst>
              <a:ext uri="{FF2B5EF4-FFF2-40B4-BE49-F238E27FC236}">
                <a16:creationId xmlns:a16="http://schemas.microsoft.com/office/drawing/2014/main" id="{DE5A3D85-75CD-46E4-ACC6-0B66D2521B9C}"/>
              </a:ext>
            </a:extLst>
          </p:cNvPr>
          <p:cNvSpPr/>
          <p:nvPr/>
        </p:nvSpPr>
        <p:spPr>
          <a:xfrm>
            <a:off x="550863" y="2914190"/>
            <a:ext cx="347472" cy="347472"/>
          </a:xfrm>
          <a:prstGeom prst="ellipse">
            <a:avLst/>
          </a:prstGeom>
          <a:solidFill>
            <a:srgbClr val="005BAA"/>
          </a:solidFill>
          <a:ln>
            <a:solidFill>
              <a:srgbClr val="005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>
                <a:solidFill>
                  <a:srgbClr val="FFFFFF"/>
                </a:solidFill>
                <a:latin typeface="Arial"/>
              </a:rPr>
              <a:t>4</a:t>
            </a:r>
            <a:endParaRPr sz="12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Oval 9">
            <a:extLst>
              <a:ext uri="{FF2B5EF4-FFF2-40B4-BE49-F238E27FC236}">
                <a16:creationId xmlns:a16="http://schemas.microsoft.com/office/drawing/2014/main" id="{7FD9D7ED-9D43-46BA-8538-F62022FB53B8}"/>
              </a:ext>
            </a:extLst>
          </p:cNvPr>
          <p:cNvSpPr/>
          <p:nvPr/>
        </p:nvSpPr>
        <p:spPr>
          <a:xfrm>
            <a:off x="550863" y="3491669"/>
            <a:ext cx="347472" cy="347472"/>
          </a:xfrm>
          <a:prstGeom prst="ellipse">
            <a:avLst/>
          </a:prstGeom>
          <a:solidFill>
            <a:srgbClr val="005BAA"/>
          </a:solidFill>
          <a:ln>
            <a:solidFill>
              <a:srgbClr val="005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>
                <a:solidFill>
                  <a:srgbClr val="FFFFFF"/>
                </a:solidFill>
                <a:latin typeface="Arial"/>
              </a:rPr>
              <a:t>5</a:t>
            </a:r>
            <a:endParaRPr sz="12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3ABF79F-A3FF-45FA-9A94-9EC3425F3CF9}"/>
              </a:ext>
            </a:extLst>
          </p:cNvPr>
          <p:cNvSpPr/>
          <p:nvPr/>
        </p:nvSpPr>
        <p:spPr>
          <a:xfrm>
            <a:off x="550863" y="4042253"/>
            <a:ext cx="347472" cy="347472"/>
          </a:xfrm>
          <a:prstGeom prst="ellipse">
            <a:avLst/>
          </a:prstGeom>
          <a:solidFill>
            <a:srgbClr val="005BAA"/>
          </a:solidFill>
          <a:ln>
            <a:solidFill>
              <a:srgbClr val="005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>
                <a:solidFill>
                  <a:srgbClr val="FFFFFF"/>
                </a:solidFill>
                <a:latin typeface="Arial"/>
              </a:rPr>
              <a:t>6</a:t>
            </a:r>
            <a:endParaRPr sz="12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Oval 9">
            <a:extLst>
              <a:ext uri="{FF2B5EF4-FFF2-40B4-BE49-F238E27FC236}">
                <a16:creationId xmlns:a16="http://schemas.microsoft.com/office/drawing/2014/main" id="{85211D33-4E24-4CA4-885E-7D991FC9F48A}"/>
              </a:ext>
            </a:extLst>
          </p:cNvPr>
          <p:cNvSpPr/>
          <p:nvPr/>
        </p:nvSpPr>
        <p:spPr>
          <a:xfrm>
            <a:off x="550863" y="4601802"/>
            <a:ext cx="347472" cy="347472"/>
          </a:xfrm>
          <a:prstGeom prst="ellipse">
            <a:avLst/>
          </a:prstGeom>
          <a:solidFill>
            <a:srgbClr val="005BAA"/>
          </a:solidFill>
          <a:ln>
            <a:solidFill>
              <a:srgbClr val="005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>
                <a:solidFill>
                  <a:srgbClr val="FFFFFF"/>
                </a:solidFill>
                <a:latin typeface="Arial"/>
              </a:rPr>
              <a:t>7</a:t>
            </a:r>
            <a:endParaRPr sz="12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Oval 9">
            <a:extLst>
              <a:ext uri="{FF2B5EF4-FFF2-40B4-BE49-F238E27FC236}">
                <a16:creationId xmlns:a16="http://schemas.microsoft.com/office/drawing/2014/main" id="{CC6E327B-02DA-4371-9E07-C7D83807442E}"/>
              </a:ext>
            </a:extLst>
          </p:cNvPr>
          <p:cNvSpPr/>
          <p:nvPr/>
        </p:nvSpPr>
        <p:spPr>
          <a:xfrm>
            <a:off x="550863" y="5164429"/>
            <a:ext cx="347472" cy="347472"/>
          </a:xfrm>
          <a:prstGeom prst="ellipse">
            <a:avLst/>
          </a:prstGeom>
          <a:solidFill>
            <a:srgbClr val="005BAA"/>
          </a:solidFill>
          <a:ln>
            <a:solidFill>
              <a:srgbClr val="005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>
                <a:solidFill>
                  <a:srgbClr val="FFFFFF"/>
                </a:solidFill>
                <a:latin typeface="Arial"/>
              </a:rPr>
              <a:t>8</a:t>
            </a:r>
            <a:endParaRPr sz="12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Oval 9">
            <a:extLst>
              <a:ext uri="{FF2B5EF4-FFF2-40B4-BE49-F238E27FC236}">
                <a16:creationId xmlns:a16="http://schemas.microsoft.com/office/drawing/2014/main" id="{0909E7A9-21C7-430C-A005-2091326EE088}"/>
              </a:ext>
            </a:extLst>
          </p:cNvPr>
          <p:cNvSpPr/>
          <p:nvPr/>
        </p:nvSpPr>
        <p:spPr>
          <a:xfrm>
            <a:off x="557444" y="5682231"/>
            <a:ext cx="347472" cy="347472"/>
          </a:xfrm>
          <a:prstGeom prst="ellipse">
            <a:avLst/>
          </a:prstGeom>
          <a:solidFill>
            <a:srgbClr val="005BAA"/>
          </a:solidFill>
          <a:ln>
            <a:solidFill>
              <a:srgbClr val="005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>
                <a:solidFill>
                  <a:srgbClr val="FFFFFF"/>
                </a:solidFill>
                <a:latin typeface="Arial"/>
              </a:rPr>
              <a:t>9</a:t>
            </a:r>
            <a:endParaRPr sz="1200" b="1" i="0" dirty="0">
              <a:solidFill>
                <a:srgbClr val="FFFFF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64585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F629FCE6-17AE-4664-8F63-4E9A710F8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Актуальность</a:t>
            </a:r>
          </a:p>
        </p:txBody>
      </p:sp>
      <p:sp>
        <p:nvSpPr>
          <p:cNvPr id="4" name="Rounded Rectangle 18">
            <a:extLst>
              <a:ext uri="{FF2B5EF4-FFF2-40B4-BE49-F238E27FC236}">
                <a16:creationId xmlns:a16="http://schemas.microsoft.com/office/drawing/2014/main" id="{C6299E22-7962-4548-8D8F-291412F7EA1A}"/>
              </a:ext>
            </a:extLst>
          </p:cNvPr>
          <p:cNvSpPr/>
          <p:nvPr/>
        </p:nvSpPr>
        <p:spPr>
          <a:xfrm>
            <a:off x="506136" y="1049951"/>
            <a:ext cx="11135001" cy="1839481"/>
          </a:xfrm>
          <a:prstGeom prst="roundRect">
            <a:avLst/>
          </a:prstGeom>
          <a:solidFill>
            <a:srgbClr val="E7F3FD"/>
          </a:solidFill>
          <a:ln w="1270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>
            <a:normAutofit fontScale="92500" lnSpcReduction="20000"/>
          </a:bodyPr>
          <a:lstStyle/>
          <a:p>
            <a:pPr marL="0" algn="just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ru-RU" sz="2000" i="0" kern="120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В эпоху цифровой трансформации в транспортной сфере широко используются возможности навигационных систем и сетей передачи информации для управления производственными процессами. Прогресс в этой области делает актуальными проблемы:</a:t>
            </a:r>
            <a:endParaRPr lang="ru-RU" sz="1600" dirty="0">
              <a:effectLst/>
            </a:endParaRPr>
          </a:p>
          <a:p>
            <a:pPr marL="347472" indent="-347472" algn="just" rtl="0" eaLnBrk="1" latinLnBrk="0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kern="120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Обработки больших потоков телеметрических данных;</a:t>
            </a:r>
            <a:endParaRPr lang="ru-RU" sz="1600" dirty="0">
              <a:effectLst/>
            </a:endParaRPr>
          </a:p>
          <a:p>
            <a:pPr marL="347472" indent="-347472" algn="just" rtl="0" eaLnBrk="1" latinLnBrk="0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kern="120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Поиска необходимых исторических телеметрических данных;</a:t>
            </a:r>
            <a:endParaRPr lang="ru-RU" sz="1600" dirty="0">
              <a:effectLst/>
            </a:endParaRPr>
          </a:p>
          <a:p>
            <a:pPr marL="347472" indent="-347472" algn="just" rtl="0" eaLnBrk="1" latinLnBrk="0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i="0" kern="120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Анализа телеметрических </a:t>
            </a:r>
            <a:r>
              <a:rPr lang="ru-RU" sz="2000" kern="120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данных в кратчайшие сроки.</a:t>
            </a:r>
            <a:endParaRPr lang="ru-RU" sz="1600" dirty="0">
              <a:effectLst/>
            </a:endParaRPr>
          </a:p>
        </p:txBody>
      </p:sp>
      <p:sp>
        <p:nvSpPr>
          <p:cNvPr id="7" name="Rounded Rectangle 18">
            <a:extLst>
              <a:ext uri="{FF2B5EF4-FFF2-40B4-BE49-F238E27FC236}">
                <a16:creationId xmlns:a16="http://schemas.microsoft.com/office/drawing/2014/main" id="{249EB6E0-4A12-459B-A0B1-040C005F91FF}"/>
              </a:ext>
            </a:extLst>
          </p:cNvPr>
          <p:cNvSpPr/>
          <p:nvPr/>
        </p:nvSpPr>
        <p:spPr>
          <a:xfrm>
            <a:off x="506136" y="3048829"/>
            <a:ext cx="11134999" cy="994254"/>
          </a:xfrm>
          <a:prstGeom prst="roundRect">
            <a:avLst/>
          </a:prstGeom>
          <a:solidFill>
            <a:srgbClr val="E7F3FD"/>
          </a:solidFill>
          <a:ln w="1270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>
            <a:normAutofit/>
          </a:bodyPr>
          <a:lstStyle/>
          <a:p>
            <a:pPr marL="0" algn="just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ru-RU" sz="2000" kern="120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Эффективное решение этих задач позволит транспортным предприятиям получить новые аналитические возможности, уменьшить расходы на вычислительные ресурсы.</a:t>
            </a:r>
            <a:endParaRPr lang="ru-RU" sz="2000" dirty="0">
              <a:effectLst/>
            </a:endParaRPr>
          </a:p>
        </p:txBody>
      </p:sp>
      <p:sp>
        <p:nvSpPr>
          <p:cNvPr id="8" name="Rounded Rectangle 18">
            <a:extLst>
              <a:ext uri="{FF2B5EF4-FFF2-40B4-BE49-F238E27FC236}">
                <a16:creationId xmlns:a16="http://schemas.microsoft.com/office/drawing/2014/main" id="{78E5ABC8-5CEF-41C8-A7DE-EC8B570BD7F0}"/>
              </a:ext>
            </a:extLst>
          </p:cNvPr>
          <p:cNvSpPr/>
          <p:nvPr/>
        </p:nvSpPr>
        <p:spPr>
          <a:xfrm>
            <a:off x="493060" y="4202480"/>
            <a:ext cx="11134999" cy="994254"/>
          </a:xfrm>
          <a:prstGeom prst="roundRect">
            <a:avLst/>
          </a:prstGeom>
          <a:solidFill>
            <a:srgbClr val="E7F3FD"/>
          </a:solidFill>
          <a:ln w="1270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>
            <a:normAutofit fontScale="92500" lnSpcReduction="10000"/>
          </a:bodyPr>
          <a:lstStyle/>
          <a:p>
            <a:pPr marL="0" algn="just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ru-RU" kern="120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ГНСС-мониторинг транспортных средств активно развивается ввиду требований законодательства различных стран, поступательного развития спутниковых систем и бортовых устройств, а также благодаря разработке систем управления и мониторинга различных направлений.</a:t>
            </a:r>
            <a:endParaRPr lang="ru-RU" dirty="0">
              <a:effectLst/>
            </a:endParaRPr>
          </a:p>
        </p:txBody>
      </p:sp>
      <p:sp>
        <p:nvSpPr>
          <p:cNvPr id="10" name="Rounded Rectangle 18">
            <a:extLst>
              <a:ext uri="{FF2B5EF4-FFF2-40B4-BE49-F238E27FC236}">
                <a16:creationId xmlns:a16="http://schemas.microsoft.com/office/drawing/2014/main" id="{2D74844C-ABE6-437D-B4E4-983E99145EBB}"/>
              </a:ext>
            </a:extLst>
          </p:cNvPr>
          <p:cNvSpPr/>
          <p:nvPr/>
        </p:nvSpPr>
        <p:spPr>
          <a:xfrm>
            <a:off x="493059" y="5415148"/>
            <a:ext cx="11134999" cy="994254"/>
          </a:xfrm>
          <a:prstGeom prst="roundRect">
            <a:avLst/>
          </a:prstGeom>
          <a:solidFill>
            <a:srgbClr val="E7F3FD"/>
          </a:solidFill>
          <a:ln w="1270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>
            <a:normAutofit fontScale="92500" lnSpcReduction="10000"/>
          </a:bodyPr>
          <a:lstStyle/>
          <a:p>
            <a:pPr marL="0" algn="just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ru-RU" kern="1200" dirty="0">
                <a:solidFill>
                  <a:srgbClr val="005AA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Основными интересантами решения перечисленных проблем являются частные и государственные транспортные предприятия, контролирующие органы, разработчики программных продуктов в сфере позиционного мониторинга и обработки телеметрии.</a:t>
            </a:r>
            <a:endParaRPr lang="ru-RU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0833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F629FCE6-17AE-4664-8F63-4E9A710F8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Выбранные методы, решения, подходы, стек технологий</a:t>
            </a:r>
          </a:p>
        </p:txBody>
      </p:sp>
      <p:pic>
        <p:nvPicPr>
          <p:cNvPr id="2050" name="Picture 2" descr="Figures from Hilbert's 1891 paper">
            <a:extLst>
              <a:ext uri="{FF2B5EF4-FFF2-40B4-BE49-F238E27FC236}">
                <a16:creationId xmlns:a16="http://schemas.microsoft.com/office/drawing/2014/main" id="{CD8B084D-8E98-434B-A152-5DBD8A93B3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514" y="4225280"/>
            <a:ext cx="4935087" cy="1949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FACC03DD-8EF1-4214-AF3C-178AA7A98D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5788" y="1096061"/>
            <a:ext cx="3549462" cy="307331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F706BEA9-80C1-441F-A62F-A898AE0B9B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0440" y="3815699"/>
            <a:ext cx="2767855" cy="2735369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ounded Rectangle 18">
            <a:extLst>
              <a:ext uri="{FF2B5EF4-FFF2-40B4-BE49-F238E27FC236}">
                <a16:creationId xmlns:a16="http://schemas.microsoft.com/office/drawing/2014/main" id="{ED94D8A8-894B-4AE6-B636-840FA79F4905}"/>
              </a:ext>
            </a:extLst>
          </p:cNvPr>
          <p:cNvSpPr/>
          <p:nvPr/>
        </p:nvSpPr>
        <p:spPr>
          <a:xfrm>
            <a:off x="737348" y="1531142"/>
            <a:ext cx="2678205" cy="2203154"/>
          </a:xfrm>
          <a:prstGeom prst="roundRect">
            <a:avLst/>
          </a:prstGeom>
          <a:solidFill>
            <a:srgbClr val="E7F3FD"/>
          </a:solidFill>
          <a:ln w="1270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>
            <a:noAutofit/>
          </a:bodyPr>
          <a:lstStyle/>
          <a:p>
            <a:pPr algn="l">
              <a:buChar char="•"/>
            </a:pPr>
            <a:r>
              <a:rPr lang="en-US" sz="1500" dirty="0">
                <a:solidFill>
                  <a:srgbClr val="272D3A"/>
                </a:solidFill>
                <a:latin typeface="Arial"/>
              </a:rPr>
              <a:t>Google S2 Geometry – </a:t>
            </a:r>
            <a:r>
              <a:rPr lang="ru-RU" sz="1500" dirty="0">
                <a:solidFill>
                  <a:srgbClr val="272D3A"/>
                </a:solidFill>
                <a:latin typeface="Arial"/>
              </a:rPr>
              <a:t>система дискретизации земной поверхности</a:t>
            </a:r>
          </a:p>
          <a:p>
            <a:pPr algn="l">
              <a:buChar char="•"/>
            </a:pPr>
            <a:r>
              <a:rPr lang="ru-RU" sz="1500" dirty="0">
                <a:solidFill>
                  <a:srgbClr val="272D3A"/>
                </a:solidFill>
                <a:latin typeface="Arial"/>
              </a:rPr>
              <a:t>Земная поверхность разбивается на ячейки</a:t>
            </a:r>
            <a:r>
              <a:rPr lang="en-US" sz="1500" dirty="0">
                <a:solidFill>
                  <a:srgbClr val="272D3A"/>
                </a:solidFill>
                <a:latin typeface="Arial"/>
              </a:rPr>
              <a:t> </a:t>
            </a:r>
            <a:r>
              <a:rPr lang="ru-RU" sz="1500" dirty="0">
                <a:solidFill>
                  <a:srgbClr val="272D3A"/>
                </a:solidFill>
                <a:latin typeface="Arial"/>
              </a:rPr>
              <a:t>различных уровней, объединенные в иерархию</a:t>
            </a:r>
            <a:endParaRPr sz="1500" dirty="0">
              <a:solidFill>
                <a:srgbClr val="272D3A"/>
              </a:solidFill>
              <a:latin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983415-B577-414D-9301-C071294D126D}"/>
              </a:ext>
            </a:extLst>
          </p:cNvPr>
          <p:cNvSpPr txBox="1"/>
          <p:nvPr/>
        </p:nvSpPr>
        <p:spPr>
          <a:xfrm>
            <a:off x="550863" y="1039268"/>
            <a:ext cx="38777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800" b="1" i="0" dirty="0">
                <a:solidFill>
                  <a:srgbClr val="005BAA"/>
                </a:solidFill>
                <a:latin typeface="Arial"/>
              </a:rPr>
              <a:t>Пространственная индексация</a:t>
            </a:r>
          </a:p>
        </p:txBody>
      </p:sp>
      <p:sp>
        <p:nvSpPr>
          <p:cNvPr id="11" name="Rounded Rectangle 18">
            <a:extLst>
              <a:ext uri="{FF2B5EF4-FFF2-40B4-BE49-F238E27FC236}">
                <a16:creationId xmlns:a16="http://schemas.microsoft.com/office/drawing/2014/main" id="{7EC4046C-D314-4268-B9FD-CCC633B11431}"/>
              </a:ext>
            </a:extLst>
          </p:cNvPr>
          <p:cNvSpPr/>
          <p:nvPr/>
        </p:nvSpPr>
        <p:spPr>
          <a:xfrm>
            <a:off x="5181601" y="4259316"/>
            <a:ext cx="2678205" cy="2203154"/>
          </a:xfrm>
          <a:prstGeom prst="roundRect">
            <a:avLst/>
          </a:prstGeom>
          <a:solidFill>
            <a:srgbClr val="E7F3FD"/>
          </a:solidFill>
          <a:ln w="1270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>
            <a:noAutofit/>
          </a:bodyPr>
          <a:lstStyle/>
          <a:p>
            <a:pPr algn="l">
              <a:buChar char="•"/>
            </a:pPr>
            <a:r>
              <a:rPr lang="ru-RU" sz="1500" dirty="0">
                <a:solidFill>
                  <a:srgbClr val="272D3A"/>
                </a:solidFill>
                <a:latin typeface="Arial"/>
              </a:rPr>
              <a:t>Ячейки нумеруются в порядке, заданном кривой Гильберта, которая проходит через каждую ячейку пространства единожды</a:t>
            </a:r>
          </a:p>
          <a:p>
            <a:pPr algn="l">
              <a:buChar char="•"/>
            </a:pPr>
            <a:r>
              <a:rPr lang="ru-RU" sz="1500" dirty="0">
                <a:solidFill>
                  <a:srgbClr val="272D3A"/>
                </a:solidFill>
                <a:latin typeface="Arial"/>
              </a:rPr>
              <a:t>Номер ячейки – целое 64-битное число</a:t>
            </a:r>
            <a:endParaRPr sz="1500" dirty="0">
              <a:solidFill>
                <a:srgbClr val="272D3A"/>
              </a:solidFill>
              <a:latin typeface="Arial"/>
            </a:endParaRPr>
          </a:p>
        </p:txBody>
      </p:sp>
      <p:sp>
        <p:nvSpPr>
          <p:cNvPr id="12" name="Rounded Rectangle 18">
            <a:extLst>
              <a:ext uri="{FF2B5EF4-FFF2-40B4-BE49-F238E27FC236}">
                <a16:creationId xmlns:a16="http://schemas.microsoft.com/office/drawing/2014/main" id="{BD53F340-7F73-4B3F-AA4D-7CA6CBB6FAB3}"/>
              </a:ext>
            </a:extLst>
          </p:cNvPr>
          <p:cNvSpPr/>
          <p:nvPr/>
        </p:nvSpPr>
        <p:spPr>
          <a:xfrm>
            <a:off x="8704730" y="1096061"/>
            <a:ext cx="2793565" cy="2638235"/>
          </a:xfrm>
          <a:prstGeom prst="roundRect">
            <a:avLst/>
          </a:prstGeom>
          <a:solidFill>
            <a:srgbClr val="E7F3FD"/>
          </a:solidFill>
          <a:ln w="1270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>
            <a:noAutofit/>
          </a:bodyPr>
          <a:lstStyle/>
          <a:p>
            <a:pPr algn="l">
              <a:buChar char="•"/>
            </a:pPr>
            <a:r>
              <a:rPr lang="en-US" sz="1500" dirty="0">
                <a:solidFill>
                  <a:srgbClr val="272D3A"/>
                </a:solidFill>
                <a:latin typeface="Arial"/>
              </a:rPr>
              <a:t>S2 </a:t>
            </a:r>
            <a:r>
              <a:rPr lang="ru-RU" sz="1500" dirty="0">
                <a:solidFill>
                  <a:srgbClr val="272D3A"/>
                </a:solidFill>
                <a:latin typeface="Arial"/>
              </a:rPr>
              <a:t>позволяет разбивать пространство до ячеек размером 0.93 см2</a:t>
            </a:r>
          </a:p>
          <a:p>
            <a:pPr algn="l">
              <a:buChar char="•"/>
            </a:pPr>
            <a:r>
              <a:rPr lang="ru-RU" sz="1500" dirty="0">
                <a:solidFill>
                  <a:srgbClr val="272D3A"/>
                </a:solidFill>
                <a:latin typeface="Arial"/>
              </a:rPr>
              <a:t>Иерархическая модель и целочисленная индексация располагает к созданию пространственных индексов в памяти и СУБД</a:t>
            </a:r>
          </a:p>
        </p:txBody>
      </p:sp>
    </p:spTree>
    <p:extLst>
      <p:ext uri="{BB962C8B-B14F-4D97-AF65-F5344CB8AC3E}">
        <p14:creationId xmlns:p14="http://schemas.microsoft.com/office/powerpoint/2010/main" val="2645219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F629FCE6-17AE-4664-8F63-4E9A710F8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Выбранные методы, решения, подходы, стек технологий  	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983415-B577-414D-9301-C071294D126D}"/>
              </a:ext>
            </a:extLst>
          </p:cNvPr>
          <p:cNvSpPr txBox="1"/>
          <p:nvPr/>
        </p:nvSpPr>
        <p:spPr>
          <a:xfrm>
            <a:off x="367098" y="1237498"/>
            <a:ext cx="38777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800" b="1" i="0" dirty="0">
                <a:solidFill>
                  <a:srgbClr val="005BAA"/>
                </a:solidFill>
                <a:latin typeface="Arial"/>
              </a:rPr>
              <a:t>Архитектурные решения</a:t>
            </a:r>
          </a:p>
        </p:txBody>
      </p:sp>
      <p:sp>
        <p:nvSpPr>
          <p:cNvPr id="13" name="Rounded Rectangle 18">
            <a:extLst>
              <a:ext uri="{FF2B5EF4-FFF2-40B4-BE49-F238E27FC236}">
                <a16:creationId xmlns:a16="http://schemas.microsoft.com/office/drawing/2014/main" id="{CDAD4F14-C87D-4629-85B5-37FC46A1219B}"/>
              </a:ext>
            </a:extLst>
          </p:cNvPr>
          <p:cNvSpPr/>
          <p:nvPr/>
        </p:nvSpPr>
        <p:spPr>
          <a:xfrm>
            <a:off x="367098" y="1838293"/>
            <a:ext cx="3246120" cy="1656874"/>
          </a:xfrm>
          <a:prstGeom prst="roundRect">
            <a:avLst/>
          </a:prstGeom>
          <a:solidFill>
            <a:srgbClr val="E7F3FD"/>
          </a:solidFill>
          <a:ln w="1270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>
            <a:normAutofit/>
          </a:bodyPr>
          <a:lstStyle/>
          <a:p>
            <a:pPr algn="l">
              <a:buChar char="•"/>
            </a:pPr>
            <a:r>
              <a:rPr lang="ru-RU" dirty="0" err="1">
                <a:solidFill>
                  <a:srgbClr val="272D3A"/>
                </a:solidFill>
                <a:latin typeface="Arial"/>
              </a:rPr>
              <a:t>Микросервисная</a:t>
            </a:r>
            <a:r>
              <a:rPr lang="ru-RU" dirty="0">
                <a:solidFill>
                  <a:srgbClr val="272D3A"/>
                </a:solidFill>
                <a:latin typeface="Arial"/>
              </a:rPr>
              <a:t> архитектура</a:t>
            </a:r>
          </a:p>
          <a:p>
            <a:pPr algn="l">
              <a:buChar char="•"/>
            </a:pPr>
            <a:r>
              <a:rPr lang="ru-RU" dirty="0">
                <a:solidFill>
                  <a:srgbClr val="272D3A"/>
                </a:solidFill>
                <a:latin typeface="Arial"/>
              </a:rPr>
              <a:t>Взаимодействие через брокер сообщений</a:t>
            </a:r>
            <a:endParaRPr dirty="0">
              <a:solidFill>
                <a:srgbClr val="272D3A"/>
              </a:solidFill>
              <a:latin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978177-A4BA-4191-BEC5-EEC1EC515A74}"/>
              </a:ext>
            </a:extLst>
          </p:cNvPr>
          <p:cNvSpPr txBox="1"/>
          <p:nvPr/>
        </p:nvSpPr>
        <p:spPr>
          <a:xfrm>
            <a:off x="4148883" y="1237498"/>
            <a:ext cx="3246120" cy="384048"/>
          </a:xfrm>
          <a:prstGeom prst="rect">
            <a:avLst/>
          </a:prstGeom>
          <a:noFill/>
        </p:spPr>
        <p:txBody>
          <a:bodyPr wrap="square" lIns="73152" tIns="73152" rIns="73152" bIns="73152">
            <a:normAutofit fontScale="92500" lnSpcReduction="10000"/>
          </a:bodyPr>
          <a:lstStyle/>
          <a:p>
            <a:pPr algn="l"/>
            <a:r>
              <a:rPr b="1" i="0" dirty="0" err="1">
                <a:solidFill>
                  <a:srgbClr val="005BAA"/>
                </a:solidFill>
                <a:latin typeface="Arial"/>
              </a:rPr>
              <a:t>Методы</a:t>
            </a:r>
            <a:r>
              <a:rPr b="1" i="0" dirty="0">
                <a:solidFill>
                  <a:srgbClr val="005BAA"/>
                </a:solidFill>
                <a:latin typeface="Arial"/>
              </a:rPr>
              <a:t> </a:t>
            </a:r>
            <a:r>
              <a:rPr b="1" i="0" dirty="0" err="1">
                <a:solidFill>
                  <a:srgbClr val="005BAA"/>
                </a:solidFill>
                <a:latin typeface="Arial"/>
              </a:rPr>
              <a:t>разработки</a:t>
            </a:r>
            <a:endParaRPr b="1" i="0" dirty="0">
              <a:solidFill>
                <a:srgbClr val="005BAA"/>
              </a:solidFill>
              <a:latin typeface="Arial"/>
            </a:endParaRPr>
          </a:p>
        </p:txBody>
      </p:sp>
      <p:sp>
        <p:nvSpPr>
          <p:cNvPr id="16" name="Rounded Rectangle 20">
            <a:extLst>
              <a:ext uri="{FF2B5EF4-FFF2-40B4-BE49-F238E27FC236}">
                <a16:creationId xmlns:a16="http://schemas.microsoft.com/office/drawing/2014/main" id="{8672B486-A935-4B4C-86C2-A6733FA04A5C}"/>
              </a:ext>
            </a:extLst>
          </p:cNvPr>
          <p:cNvSpPr/>
          <p:nvPr/>
        </p:nvSpPr>
        <p:spPr>
          <a:xfrm>
            <a:off x="4148883" y="1826347"/>
            <a:ext cx="3246120" cy="1668820"/>
          </a:xfrm>
          <a:prstGeom prst="roundRect">
            <a:avLst/>
          </a:prstGeom>
          <a:solidFill>
            <a:srgbClr val="E7F3FD"/>
          </a:solidFill>
          <a:ln w="1270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>
            <a:normAutofit fontScale="92500" lnSpcReduction="20000"/>
          </a:bodyPr>
          <a:lstStyle/>
          <a:p>
            <a:pPr algn="l">
              <a:buChar char="•"/>
            </a:pPr>
            <a:r>
              <a:rPr lang="ru-RU" sz="1600" dirty="0">
                <a:solidFill>
                  <a:srgbClr val="272D3A"/>
                </a:solidFill>
                <a:latin typeface="Arial"/>
              </a:rPr>
              <a:t>Обзор аналогов</a:t>
            </a:r>
            <a:endParaRPr sz="1600" dirty="0">
              <a:solidFill>
                <a:srgbClr val="272D3A"/>
              </a:solidFill>
              <a:latin typeface="Arial"/>
            </a:endParaRPr>
          </a:p>
          <a:p>
            <a:pPr algn="l">
              <a:buChar char="•"/>
            </a:pPr>
            <a:r>
              <a:rPr lang="ru-RU" sz="1600" dirty="0">
                <a:solidFill>
                  <a:srgbClr val="272D3A"/>
                </a:solidFill>
                <a:latin typeface="Arial"/>
              </a:rPr>
              <a:t>Анализ, документирование</a:t>
            </a:r>
            <a:r>
              <a:rPr sz="1600" dirty="0">
                <a:solidFill>
                  <a:srgbClr val="272D3A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272D3A"/>
                </a:solidFill>
                <a:latin typeface="Arial"/>
              </a:rPr>
              <a:t>требований</a:t>
            </a:r>
            <a:endParaRPr sz="1600" dirty="0">
              <a:solidFill>
                <a:srgbClr val="272D3A"/>
              </a:solidFill>
              <a:latin typeface="Arial"/>
            </a:endParaRPr>
          </a:p>
          <a:p>
            <a:pPr algn="l">
              <a:buChar char="•"/>
            </a:pPr>
            <a:r>
              <a:rPr lang="ru-RU" sz="1600" dirty="0">
                <a:solidFill>
                  <a:srgbClr val="272D3A"/>
                </a:solidFill>
                <a:latin typeface="Arial"/>
              </a:rPr>
              <a:t>Проектирование БД и </a:t>
            </a:r>
            <a:r>
              <a:rPr lang="en-US" sz="1600" dirty="0">
                <a:solidFill>
                  <a:srgbClr val="272D3A"/>
                </a:solidFill>
                <a:latin typeface="Arial"/>
              </a:rPr>
              <a:t>API </a:t>
            </a:r>
            <a:r>
              <a:rPr lang="ru-RU" sz="1600" dirty="0">
                <a:solidFill>
                  <a:srgbClr val="272D3A"/>
                </a:solidFill>
                <a:latin typeface="Arial"/>
              </a:rPr>
              <a:t>модулей</a:t>
            </a:r>
            <a:endParaRPr sz="1600" dirty="0">
              <a:solidFill>
                <a:srgbClr val="272D3A"/>
              </a:solidFill>
              <a:latin typeface="Arial"/>
            </a:endParaRPr>
          </a:p>
          <a:p>
            <a:pPr algn="l">
              <a:buChar char="•"/>
            </a:pPr>
            <a:r>
              <a:rPr lang="ru-RU" sz="1600" dirty="0">
                <a:solidFill>
                  <a:srgbClr val="272D3A"/>
                </a:solidFill>
                <a:latin typeface="Arial"/>
              </a:rPr>
              <a:t>Компонентное описание системы</a:t>
            </a:r>
            <a:endParaRPr sz="1600" dirty="0">
              <a:solidFill>
                <a:srgbClr val="272D3A"/>
              </a:solidFill>
              <a:latin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46FD9A-7BB6-4AEA-9B45-C6A0C5C6C2E4}"/>
              </a:ext>
            </a:extLst>
          </p:cNvPr>
          <p:cNvSpPr txBox="1"/>
          <p:nvPr/>
        </p:nvSpPr>
        <p:spPr>
          <a:xfrm>
            <a:off x="271181" y="3848082"/>
            <a:ext cx="38777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800" b="1" i="0" dirty="0">
                <a:solidFill>
                  <a:srgbClr val="005BAA"/>
                </a:solidFill>
                <a:latin typeface="Arial"/>
              </a:rPr>
              <a:t>Пользовательский интерфейс</a:t>
            </a:r>
          </a:p>
        </p:txBody>
      </p:sp>
      <p:sp>
        <p:nvSpPr>
          <p:cNvPr id="18" name="Rounded Rectangle 18">
            <a:extLst>
              <a:ext uri="{FF2B5EF4-FFF2-40B4-BE49-F238E27FC236}">
                <a16:creationId xmlns:a16="http://schemas.microsoft.com/office/drawing/2014/main" id="{56557526-D8B0-4440-8766-599695A01584}"/>
              </a:ext>
            </a:extLst>
          </p:cNvPr>
          <p:cNvSpPr/>
          <p:nvPr/>
        </p:nvSpPr>
        <p:spPr>
          <a:xfrm>
            <a:off x="329469" y="4448877"/>
            <a:ext cx="3530768" cy="1754699"/>
          </a:xfrm>
          <a:prstGeom prst="roundRect">
            <a:avLst/>
          </a:prstGeom>
          <a:solidFill>
            <a:srgbClr val="E7F3FD"/>
          </a:solidFill>
          <a:ln w="1270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>
            <a:noAutofit/>
          </a:bodyPr>
          <a:lstStyle/>
          <a:p>
            <a:pPr algn="l"/>
            <a:r>
              <a:rPr lang="en-US" sz="1600" dirty="0">
                <a:solidFill>
                  <a:srgbClr val="272D3A"/>
                </a:solidFill>
                <a:latin typeface="Arial"/>
              </a:rPr>
              <a:t>TypeScript – </a:t>
            </a:r>
            <a:r>
              <a:rPr lang="ru-RU" sz="1600" dirty="0">
                <a:solidFill>
                  <a:srgbClr val="272D3A"/>
                </a:solidFill>
                <a:latin typeface="Arial"/>
              </a:rPr>
              <a:t>типизация</a:t>
            </a:r>
            <a:r>
              <a:rPr lang="en-US" sz="1600" dirty="0">
                <a:solidFill>
                  <a:srgbClr val="272D3A"/>
                </a:solidFill>
                <a:latin typeface="Arial"/>
              </a:rPr>
              <a:t>,</a:t>
            </a:r>
            <a:r>
              <a:rPr lang="ru-RU" sz="1600" dirty="0">
                <a:solidFill>
                  <a:srgbClr val="272D3A"/>
                </a:solidFill>
                <a:latin typeface="Arial"/>
              </a:rPr>
              <a:t> экосистема </a:t>
            </a:r>
            <a:r>
              <a:rPr lang="en-US" sz="1600" dirty="0">
                <a:solidFill>
                  <a:srgbClr val="272D3A"/>
                </a:solidFill>
                <a:latin typeface="Arial"/>
              </a:rPr>
              <a:t>JS</a:t>
            </a:r>
            <a:endParaRPr lang="ru-RU" sz="1600" dirty="0">
              <a:solidFill>
                <a:srgbClr val="272D3A"/>
              </a:solidFill>
              <a:latin typeface="Arial"/>
            </a:endParaRPr>
          </a:p>
          <a:p>
            <a:pPr algn="l"/>
            <a:r>
              <a:rPr lang="en-US" sz="1600" dirty="0">
                <a:solidFill>
                  <a:srgbClr val="272D3A"/>
                </a:solidFill>
                <a:latin typeface="Arial"/>
              </a:rPr>
              <a:t>Vue.js </a:t>
            </a:r>
            <a:r>
              <a:rPr lang="ru-RU" sz="1600" dirty="0">
                <a:solidFill>
                  <a:srgbClr val="272D3A"/>
                </a:solidFill>
                <a:latin typeface="Arial"/>
              </a:rPr>
              <a:t>– актуальность, компонентный подход</a:t>
            </a:r>
          </a:p>
          <a:p>
            <a:pPr algn="l"/>
            <a:r>
              <a:rPr lang="en-US" sz="1600" dirty="0" err="1">
                <a:solidFill>
                  <a:srgbClr val="272D3A"/>
                </a:solidFill>
                <a:latin typeface="Arial"/>
              </a:rPr>
              <a:t>Vite</a:t>
            </a:r>
            <a:r>
              <a:rPr lang="en-US" sz="1600" dirty="0">
                <a:solidFill>
                  <a:srgbClr val="272D3A"/>
                </a:solidFill>
                <a:latin typeface="Arial"/>
              </a:rPr>
              <a:t> – </a:t>
            </a:r>
            <a:r>
              <a:rPr lang="ru-RU" sz="1600" dirty="0">
                <a:solidFill>
                  <a:srgbClr val="272D3A"/>
                </a:solidFill>
                <a:latin typeface="Arial"/>
              </a:rPr>
              <a:t>поддержка </a:t>
            </a:r>
            <a:r>
              <a:rPr lang="en-US" sz="1600" dirty="0">
                <a:solidFill>
                  <a:srgbClr val="272D3A"/>
                </a:solidFill>
                <a:latin typeface="Arial"/>
              </a:rPr>
              <a:t>Vue, </a:t>
            </a:r>
            <a:r>
              <a:rPr lang="ru-RU" sz="1600" dirty="0">
                <a:solidFill>
                  <a:srgbClr val="272D3A"/>
                </a:solidFill>
                <a:latin typeface="Arial"/>
              </a:rPr>
              <a:t>экосистема </a:t>
            </a:r>
            <a:r>
              <a:rPr lang="en-US" sz="1600" dirty="0">
                <a:solidFill>
                  <a:srgbClr val="272D3A"/>
                </a:solidFill>
                <a:latin typeface="Arial"/>
              </a:rPr>
              <a:t>Node.js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2C76D5-6D6E-472D-A684-B728842820AE}"/>
              </a:ext>
            </a:extLst>
          </p:cNvPr>
          <p:cNvSpPr txBox="1"/>
          <p:nvPr/>
        </p:nvSpPr>
        <p:spPr>
          <a:xfrm>
            <a:off x="4148883" y="3862798"/>
            <a:ext cx="38777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dirty="0">
                <a:solidFill>
                  <a:srgbClr val="005BAA"/>
                </a:solidFill>
                <a:latin typeface="Arial"/>
              </a:rPr>
              <a:t>Серверные технологии</a:t>
            </a:r>
            <a:endParaRPr lang="ru-RU" sz="1800" b="1" i="0" dirty="0">
              <a:solidFill>
                <a:srgbClr val="005BAA"/>
              </a:solidFill>
              <a:latin typeface="Arial"/>
            </a:endParaRPr>
          </a:p>
        </p:txBody>
      </p:sp>
      <p:sp>
        <p:nvSpPr>
          <p:cNvPr id="20" name="Rounded Rectangle 18">
            <a:extLst>
              <a:ext uri="{FF2B5EF4-FFF2-40B4-BE49-F238E27FC236}">
                <a16:creationId xmlns:a16="http://schemas.microsoft.com/office/drawing/2014/main" id="{954EAC16-B3E5-4EDC-8D4A-08904E289B84}"/>
              </a:ext>
            </a:extLst>
          </p:cNvPr>
          <p:cNvSpPr/>
          <p:nvPr/>
        </p:nvSpPr>
        <p:spPr>
          <a:xfrm>
            <a:off x="4148883" y="4436931"/>
            <a:ext cx="3530768" cy="1766645"/>
          </a:xfrm>
          <a:prstGeom prst="roundRect">
            <a:avLst/>
          </a:prstGeom>
          <a:solidFill>
            <a:srgbClr val="E7F3FD"/>
          </a:solidFill>
          <a:ln w="1270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>
            <a:noAutofit/>
          </a:bodyPr>
          <a:lstStyle/>
          <a:p>
            <a:pPr algn="l"/>
            <a:r>
              <a:rPr lang="en-US" sz="1600" dirty="0">
                <a:solidFill>
                  <a:srgbClr val="272D3A"/>
                </a:solidFill>
                <a:latin typeface="Arial"/>
              </a:rPr>
              <a:t>Kotlin – </a:t>
            </a:r>
            <a:r>
              <a:rPr lang="ru-RU" sz="1600" dirty="0">
                <a:solidFill>
                  <a:srgbClr val="272D3A"/>
                </a:solidFill>
                <a:latin typeface="Arial"/>
              </a:rPr>
              <a:t>удобство</a:t>
            </a:r>
            <a:r>
              <a:rPr lang="en-US" sz="1600" dirty="0">
                <a:solidFill>
                  <a:srgbClr val="272D3A"/>
                </a:solidFill>
                <a:latin typeface="Arial"/>
              </a:rPr>
              <a:t> </a:t>
            </a:r>
            <a:r>
              <a:rPr lang="ru-RU" sz="1600" dirty="0">
                <a:solidFill>
                  <a:srgbClr val="272D3A"/>
                </a:solidFill>
                <a:latin typeface="Arial"/>
              </a:rPr>
              <a:t>(не </a:t>
            </a:r>
            <a:r>
              <a:rPr lang="en-US" sz="1600" dirty="0">
                <a:solidFill>
                  <a:srgbClr val="272D3A"/>
                </a:solidFill>
                <a:latin typeface="Arial"/>
              </a:rPr>
              <a:t>Java), </a:t>
            </a:r>
            <a:r>
              <a:rPr lang="ru-RU" sz="1600" dirty="0">
                <a:solidFill>
                  <a:srgbClr val="272D3A"/>
                </a:solidFill>
                <a:latin typeface="Arial"/>
              </a:rPr>
              <a:t>экосистема </a:t>
            </a:r>
            <a:r>
              <a:rPr lang="en-US" sz="1600" dirty="0">
                <a:solidFill>
                  <a:srgbClr val="272D3A"/>
                </a:solidFill>
                <a:latin typeface="Arial"/>
              </a:rPr>
              <a:t>JVM,</a:t>
            </a:r>
            <a:r>
              <a:rPr lang="ru-RU" sz="1600" dirty="0">
                <a:solidFill>
                  <a:srgbClr val="272D3A"/>
                </a:solidFill>
                <a:latin typeface="Arial"/>
              </a:rPr>
              <a:t> </a:t>
            </a:r>
            <a:r>
              <a:rPr lang="en-US" sz="1600" dirty="0">
                <a:solidFill>
                  <a:srgbClr val="272D3A"/>
                </a:solidFill>
                <a:latin typeface="Arial"/>
              </a:rPr>
              <a:t>S2 </a:t>
            </a:r>
            <a:r>
              <a:rPr lang="ru-RU" sz="1600" dirty="0">
                <a:solidFill>
                  <a:srgbClr val="272D3A"/>
                </a:solidFill>
                <a:latin typeface="Arial"/>
              </a:rPr>
              <a:t>библиотека</a:t>
            </a:r>
          </a:p>
          <a:p>
            <a:pPr algn="l"/>
            <a:r>
              <a:rPr lang="en-US" sz="1600" dirty="0">
                <a:solidFill>
                  <a:srgbClr val="272D3A"/>
                </a:solidFill>
                <a:latin typeface="Arial"/>
              </a:rPr>
              <a:t>Gradle – </a:t>
            </a:r>
            <a:r>
              <a:rPr lang="ru-RU" sz="1600" dirty="0">
                <a:solidFill>
                  <a:srgbClr val="272D3A"/>
                </a:solidFill>
                <a:latin typeface="Arial"/>
              </a:rPr>
              <a:t>поддержка </a:t>
            </a:r>
            <a:r>
              <a:rPr lang="en-US" sz="1600" dirty="0">
                <a:solidFill>
                  <a:srgbClr val="272D3A"/>
                </a:solidFill>
                <a:latin typeface="Arial"/>
              </a:rPr>
              <a:t>Gradle DSL</a:t>
            </a:r>
            <a:endParaRPr lang="ru-RU" sz="1600" dirty="0">
              <a:solidFill>
                <a:srgbClr val="272D3A"/>
              </a:solidFill>
              <a:latin typeface="Arial"/>
            </a:endParaRPr>
          </a:p>
          <a:p>
            <a:pPr algn="l"/>
            <a:r>
              <a:rPr lang="en-US" sz="1600" dirty="0">
                <a:solidFill>
                  <a:srgbClr val="272D3A"/>
                </a:solidFill>
                <a:latin typeface="Arial"/>
              </a:rPr>
              <a:t>Spring Boot – </a:t>
            </a:r>
            <a:r>
              <a:rPr lang="ru-RU" sz="1600" dirty="0">
                <a:solidFill>
                  <a:srgbClr val="272D3A"/>
                </a:solidFill>
                <a:latin typeface="Arial"/>
              </a:rPr>
              <a:t>популярность, скорость разработки, экосистема</a:t>
            </a:r>
            <a:endParaRPr lang="en-US" sz="1600" dirty="0">
              <a:solidFill>
                <a:srgbClr val="272D3A"/>
              </a:solidFill>
              <a:latin typeface="Arial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701D4F-EB3E-4574-B311-677C14732BE5}"/>
              </a:ext>
            </a:extLst>
          </p:cNvPr>
          <p:cNvSpPr txBox="1"/>
          <p:nvPr/>
        </p:nvSpPr>
        <p:spPr>
          <a:xfrm>
            <a:off x="8026585" y="3890319"/>
            <a:ext cx="38777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dirty="0">
                <a:solidFill>
                  <a:srgbClr val="005BAA"/>
                </a:solidFill>
                <a:latin typeface="Arial"/>
              </a:rPr>
              <a:t>Развертывание</a:t>
            </a:r>
            <a:endParaRPr lang="ru-RU" sz="1800" b="1" i="0" dirty="0">
              <a:solidFill>
                <a:srgbClr val="005BAA"/>
              </a:solidFill>
              <a:latin typeface="Arial"/>
            </a:endParaRPr>
          </a:p>
        </p:txBody>
      </p:sp>
      <p:sp>
        <p:nvSpPr>
          <p:cNvPr id="22" name="Rounded Rectangle 18">
            <a:extLst>
              <a:ext uri="{FF2B5EF4-FFF2-40B4-BE49-F238E27FC236}">
                <a16:creationId xmlns:a16="http://schemas.microsoft.com/office/drawing/2014/main" id="{E288D03E-9077-418A-85E3-DBB594EC8FB3}"/>
              </a:ext>
            </a:extLst>
          </p:cNvPr>
          <p:cNvSpPr/>
          <p:nvPr/>
        </p:nvSpPr>
        <p:spPr>
          <a:xfrm>
            <a:off x="8026585" y="4436930"/>
            <a:ext cx="3530768" cy="1766646"/>
          </a:xfrm>
          <a:prstGeom prst="roundRect">
            <a:avLst/>
          </a:prstGeom>
          <a:solidFill>
            <a:srgbClr val="E7F3FD"/>
          </a:solidFill>
          <a:ln w="1270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>
            <a:noAutofit/>
          </a:bodyPr>
          <a:lstStyle/>
          <a:p>
            <a:pPr algn="l"/>
            <a:r>
              <a:rPr lang="en-US" sz="1600" dirty="0">
                <a:solidFill>
                  <a:srgbClr val="272D3A"/>
                </a:solidFill>
                <a:latin typeface="Arial"/>
              </a:rPr>
              <a:t>Docker – </a:t>
            </a:r>
            <a:r>
              <a:rPr lang="ru-RU" sz="1600" dirty="0">
                <a:solidFill>
                  <a:srgbClr val="272D3A"/>
                </a:solidFill>
                <a:latin typeface="Arial"/>
              </a:rPr>
              <a:t>контейнеризация: изоляция, декларативность конфигураций </a:t>
            </a:r>
            <a:r>
              <a:rPr lang="en-US" sz="1600" dirty="0">
                <a:solidFill>
                  <a:srgbClr val="272D3A"/>
                </a:solidFill>
                <a:latin typeface="Arial"/>
              </a:rPr>
              <a:t>(Docker Compose)</a:t>
            </a:r>
          </a:p>
          <a:p>
            <a:pPr algn="l"/>
            <a:r>
              <a:rPr lang="en-US" sz="1600" dirty="0">
                <a:solidFill>
                  <a:srgbClr val="272D3A"/>
                </a:solidFill>
                <a:latin typeface="Arial"/>
              </a:rPr>
              <a:t>VCS GitHub: </a:t>
            </a:r>
            <a:r>
              <a:rPr lang="ru-RU" sz="1600" dirty="0">
                <a:solidFill>
                  <a:srgbClr val="272D3A"/>
                </a:solidFill>
                <a:latin typeface="Arial"/>
              </a:rPr>
              <a:t>автоматизация развертывания с помощью </a:t>
            </a:r>
            <a:r>
              <a:rPr lang="en-US" sz="1600" dirty="0">
                <a:solidFill>
                  <a:srgbClr val="272D3A"/>
                </a:solidFill>
                <a:latin typeface="Arial"/>
              </a:rPr>
              <a:t>Actions</a:t>
            </a:r>
            <a:endParaRPr sz="1600" dirty="0">
              <a:solidFill>
                <a:srgbClr val="272D3A"/>
              </a:solidFill>
              <a:latin typeface="Arial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0B653BA-2154-4E37-B1A5-D639C17C9FC5}"/>
              </a:ext>
            </a:extLst>
          </p:cNvPr>
          <p:cNvSpPr txBox="1"/>
          <p:nvPr/>
        </p:nvSpPr>
        <p:spPr>
          <a:xfrm>
            <a:off x="8026585" y="1231802"/>
            <a:ext cx="38777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dirty="0">
                <a:solidFill>
                  <a:srgbClr val="005BAA"/>
                </a:solidFill>
                <a:latin typeface="Arial"/>
              </a:rPr>
              <a:t>Хранение и обмен данными</a:t>
            </a:r>
            <a:endParaRPr lang="ru-RU" sz="1800" b="1" i="0" dirty="0">
              <a:solidFill>
                <a:srgbClr val="005BAA"/>
              </a:solidFill>
              <a:latin typeface="Arial"/>
            </a:endParaRPr>
          </a:p>
        </p:txBody>
      </p:sp>
      <p:sp>
        <p:nvSpPr>
          <p:cNvPr id="24" name="Rounded Rectangle 18">
            <a:extLst>
              <a:ext uri="{FF2B5EF4-FFF2-40B4-BE49-F238E27FC236}">
                <a16:creationId xmlns:a16="http://schemas.microsoft.com/office/drawing/2014/main" id="{8DC6928D-1F59-4BA3-B0E8-9BEB79541A75}"/>
              </a:ext>
            </a:extLst>
          </p:cNvPr>
          <p:cNvSpPr/>
          <p:nvPr/>
        </p:nvSpPr>
        <p:spPr>
          <a:xfrm>
            <a:off x="7930668" y="1838294"/>
            <a:ext cx="3626685" cy="1656873"/>
          </a:xfrm>
          <a:prstGeom prst="roundRect">
            <a:avLst/>
          </a:prstGeom>
          <a:solidFill>
            <a:srgbClr val="E7F3FD"/>
          </a:solidFill>
          <a:ln w="1270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>
            <a:normAutofit/>
          </a:bodyPr>
          <a:lstStyle/>
          <a:p>
            <a:pPr algn="l"/>
            <a:r>
              <a:rPr lang="en-US" sz="1600" dirty="0">
                <a:solidFill>
                  <a:srgbClr val="272D3A"/>
                </a:solidFill>
                <a:latin typeface="Arial"/>
              </a:rPr>
              <a:t>Kafka</a:t>
            </a:r>
            <a:r>
              <a:rPr lang="ru-RU" sz="1600" dirty="0">
                <a:solidFill>
                  <a:srgbClr val="272D3A"/>
                </a:solidFill>
                <a:latin typeface="Arial"/>
              </a:rPr>
              <a:t>: надежность, скорость, масштабируемость</a:t>
            </a:r>
          </a:p>
          <a:p>
            <a:pPr algn="l"/>
            <a:r>
              <a:rPr lang="en-US" sz="1600" dirty="0" err="1">
                <a:solidFill>
                  <a:srgbClr val="272D3A"/>
                </a:solidFill>
                <a:latin typeface="Arial"/>
              </a:rPr>
              <a:t>PostgreSql</a:t>
            </a:r>
            <a:r>
              <a:rPr lang="en-US" sz="1600" dirty="0">
                <a:solidFill>
                  <a:srgbClr val="272D3A"/>
                </a:solidFill>
                <a:latin typeface="Arial"/>
              </a:rPr>
              <a:t>: </a:t>
            </a:r>
            <a:r>
              <a:rPr lang="ru-RU" sz="1600" dirty="0">
                <a:solidFill>
                  <a:srgbClr val="272D3A"/>
                </a:solidFill>
                <a:latin typeface="Arial"/>
              </a:rPr>
              <a:t>популярность, расширения для работы с </a:t>
            </a:r>
            <a:r>
              <a:rPr lang="ru-RU" sz="1600" dirty="0" err="1">
                <a:solidFill>
                  <a:srgbClr val="272D3A"/>
                </a:solidFill>
                <a:latin typeface="Arial"/>
              </a:rPr>
              <a:t>геоданными</a:t>
            </a:r>
            <a:r>
              <a:rPr lang="ru-RU" sz="1600" dirty="0">
                <a:solidFill>
                  <a:srgbClr val="272D3A"/>
                </a:solidFill>
                <a:latin typeface="Arial"/>
              </a:rPr>
              <a:t> </a:t>
            </a:r>
            <a:r>
              <a:rPr lang="en-US" sz="1600" dirty="0">
                <a:solidFill>
                  <a:srgbClr val="272D3A"/>
                </a:solidFill>
                <a:latin typeface="Arial"/>
              </a:rPr>
              <a:t>(</a:t>
            </a:r>
            <a:r>
              <a:rPr lang="en-US" sz="1600" dirty="0" err="1">
                <a:solidFill>
                  <a:srgbClr val="272D3A"/>
                </a:solidFill>
                <a:latin typeface="Arial"/>
              </a:rPr>
              <a:t>PostGIS</a:t>
            </a:r>
            <a:r>
              <a:rPr lang="en-US" sz="1600" dirty="0">
                <a:solidFill>
                  <a:srgbClr val="272D3A"/>
                </a:solidFill>
                <a:latin typeface="Arial"/>
              </a:rPr>
              <a:t>)</a:t>
            </a:r>
            <a:endParaRPr sz="1600" dirty="0">
              <a:solidFill>
                <a:srgbClr val="272D3A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31840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F629FCE6-17AE-4664-8F63-4E9A710F8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Описание решения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E8A0C5-AC25-409F-BC62-48BE3E108B49}"/>
              </a:ext>
            </a:extLst>
          </p:cNvPr>
          <p:cNvSpPr txBox="1"/>
          <p:nvPr/>
        </p:nvSpPr>
        <p:spPr>
          <a:xfrm>
            <a:off x="550863" y="1039268"/>
            <a:ext cx="36625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005BA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Взаимодействие компонентов</a:t>
            </a:r>
          </a:p>
        </p:txBody>
      </p:sp>
      <p:sp>
        <p:nvSpPr>
          <p:cNvPr id="6" name="Rounded Rectangle 18">
            <a:extLst>
              <a:ext uri="{FF2B5EF4-FFF2-40B4-BE49-F238E27FC236}">
                <a16:creationId xmlns:a16="http://schemas.microsoft.com/office/drawing/2014/main" id="{1D60396F-54DC-4B6C-B099-23F4746A9D95}"/>
              </a:ext>
            </a:extLst>
          </p:cNvPr>
          <p:cNvSpPr/>
          <p:nvPr/>
        </p:nvSpPr>
        <p:spPr>
          <a:xfrm>
            <a:off x="152400" y="1568824"/>
            <a:ext cx="3110753" cy="4648118"/>
          </a:xfrm>
          <a:prstGeom prst="roundRect">
            <a:avLst/>
          </a:prstGeom>
          <a:solidFill>
            <a:srgbClr val="E7F3FD"/>
          </a:solidFill>
          <a:ln w="1270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272D3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Решение – </a:t>
            </a:r>
            <a:r>
              <a:rPr kumimoji="0" lang="ru-RU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72D3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микросервисная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272D3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система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272D3A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272D3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Поток телеметрии: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272D3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 .Приемник данных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272D3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2. Брокер сообщений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72D3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272D3A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272D3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3. Потребители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272D3A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272D3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Пользовательские и интеграционные запросы приходят на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72D3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API Gateway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272D3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272D3A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36CAD79-2BBB-4AAD-AD04-490236A608B6}"/>
              </a:ext>
            </a:extLst>
          </p:cNvPr>
          <p:cNvSpPr/>
          <p:nvPr/>
        </p:nvSpPr>
        <p:spPr>
          <a:xfrm>
            <a:off x="4187571" y="1411083"/>
            <a:ext cx="1734671" cy="81736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Пользователь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CB653E18-B8C9-4001-B2D9-67F78B29FC2E}"/>
              </a:ext>
            </a:extLst>
          </p:cNvPr>
          <p:cNvSpPr/>
          <p:nvPr/>
        </p:nvSpPr>
        <p:spPr>
          <a:xfrm>
            <a:off x="4187571" y="2441242"/>
            <a:ext cx="1734670" cy="81736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Веб-клиент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B8AA0E6D-6FD7-4D96-A9CC-95CD39B053F5}"/>
              </a:ext>
            </a:extLst>
          </p:cNvPr>
          <p:cNvSpPr/>
          <p:nvPr/>
        </p:nvSpPr>
        <p:spPr>
          <a:xfrm>
            <a:off x="4187570" y="3447611"/>
            <a:ext cx="1734671" cy="81736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API Gateway</a:t>
            </a:r>
            <a:endParaRPr kumimoji="0" lang="ru-RU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73BF7F3C-7D3A-416A-9D7F-D988E2C09F5F}"/>
              </a:ext>
            </a:extLst>
          </p:cNvPr>
          <p:cNvSpPr/>
          <p:nvPr/>
        </p:nvSpPr>
        <p:spPr>
          <a:xfrm>
            <a:off x="3534203" y="4666779"/>
            <a:ext cx="2023914" cy="81736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Пространственно-временной поиск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6364DC6E-8633-47B7-BD6D-21559693C0E9}"/>
              </a:ext>
            </a:extLst>
          </p:cNvPr>
          <p:cNvSpPr/>
          <p:nvPr/>
        </p:nvSpPr>
        <p:spPr>
          <a:xfrm>
            <a:off x="6096000" y="4666779"/>
            <a:ext cx="2023914" cy="81736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Сохранение телеметрии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B2142BF1-BE1F-41B5-B94F-0BBD3CD91817}"/>
              </a:ext>
            </a:extLst>
          </p:cNvPr>
          <p:cNvSpPr/>
          <p:nvPr/>
        </p:nvSpPr>
        <p:spPr>
          <a:xfrm>
            <a:off x="8657797" y="4658191"/>
            <a:ext cx="2023914" cy="81736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Зональное отслеживание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2677B0DF-5BC2-435E-ADF7-8E0F54888F5F}"/>
              </a:ext>
            </a:extLst>
          </p:cNvPr>
          <p:cNvSpPr/>
          <p:nvPr/>
        </p:nvSpPr>
        <p:spPr>
          <a:xfrm>
            <a:off x="6240621" y="5707925"/>
            <a:ext cx="1734671" cy="81736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PostgreSQL</a:t>
            </a:r>
            <a:endParaRPr kumimoji="0" lang="ru-RU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A74DCB33-1374-4FF9-AA22-60F5AF594D30}"/>
              </a:ext>
            </a:extLst>
          </p:cNvPr>
          <p:cNvSpPr/>
          <p:nvPr/>
        </p:nvSpPr>
        <p:spPr>
          <a:xfrm>
            <a:off x="6579567" y="3447611"/>
            <a:ext cx="1734671" cy="81736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Redis</a:t>
            </a:r>
            <a:endParaRPr kumimoji="0" lang="ru-RU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2A1DE57D-BD2E-4763-B3A0-B7735B593C73}"/>
              </a:ext>
            </a:extLst>
          </p:cNvPr>
          <p:cNvSpPr/>
          <p:nvPr/>
        </p:nvSpPr>
        <p:spPr>
          <a:xfrm>
            <a:off x="9140922" y="3520045"/>
            <a:ext cx="1734671" cy="81736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Kafka</a:t>
            </a:r>
            <a:endParaRPr kumimoji="0" lang="ru-RU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4B6077BB-6D45-4466-B470-AAB5891FCC72}"/>
              </a:ext>
            </a:extLst>
          </p:cNvPr>
          <p:cNvSpPr/>
          <p:nvPr/>
        </p:nvSpPr>
        <p:spPr>
          <a:xfrm>
            <a:off x="9140922" y="2449068"/>
            <a:ext cx="1734671" cy="81736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Приёмник телеметрии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F4DE42AD-7255-4193-8BAB-4FF7045CD1DB}"/>
              </a:ext>
            </a:extLst>
          </p:cNvPr>
          <p:cNvSpPr/>
          <p:nvPr/>
        </p:nvSpPr>
        <p:spPr>
          <a:xfrm>
            <a:off x="9140922" y="1378091"/>
            <a:ext cx="1734671" cy="81736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Бортовые устройства</a:t>
            </a:r>
          </a:p>
        </p:txBody>
      </p: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B87A67FB-FAA3-49DE-8DFF-A5AC9C617CBC}"/>
              </a:ext>
            </a:extLst>
          </p:cNvPr>
          <p:cNvCxnSpPr>
            <a:stCxn id="3" idx="2"/>
            <a:endCxn id="22" idx="0"/>
          </p:cNvCxnSpPr>
          <p:nvPr/>
        </p:nvCxnSpPr>
        <p:spPr>
          <a:xfrm flipH="1">
            <a:off x="5054906" y="2228443"/>
            <a:ext cx="1" cy="212799"/>
          </a:xfrm>
          <a:prstGeom prst="straightConnector1">
            <a:avLst/>
          </a:prstGeom>
          <a:ln w="31750">
            <a:solidFill>
              <a:schemeClr val="tx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E990142A-522A-4EF3-9D90-BBF128E00024}"/>
              </a:ext>
            </a:extLst>
          </p:cNvPr>
          <p:cNvCxnSpPr>
            <a:stCxn id="22" idx="2"/>
            <a:endCxn id="28" idx="0"/>
          </p:cNvCxnSpPr>
          <p:nvPr/>
        </p:nvCxnSpPr>
        <p:spPr>
          <a:xfrm>
            <a:off x="5054906" y="3258602"/>
            <a:ext cx="0" cy="189009"/>
          </a:xfrm>
          <a:prstGeom prst="straightConnector1">
            <a:avLst/>
          </a:prstGeom>
          <a:ln w="317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Соединитель: уступ 44">
            <a:extLst>
              <a:ext uri="{FF2B5EF4-FFF2-40B4-BE49-F238E27FC236}">
                <a16:creationId xmlns:a16="http://schemas.microsoft.com/office/drawing/2014/main" id="{E4DD9B4C-FA66-47C7-A9B9-8B0571216F5F}"/>
              </a:ext>
            </a:extLst>
          </p:cNvPr>
          <p:cNvCxnSpPr>
            <a:stCxn id="28" idx="1"/>
          </p:cNvCxnSpPr>
          <p:nvPr/>
        </p:nvCxnSpPr>
        <p:spPr>
          <a:xfrm rot="10800000" flipV="1">
            <a:off x="3753294" y="3856291"/>
            <a:ext cx="434277" cy="801900"/>
          </a:xfrm>
          <a:prstGeom prst="bentConnector2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Соединитель: уступ 48">
            <a:extLst>
              <a:ext uri="{FF2B5EF4-FFF2-40B4-BE49-F238E27FC236}">
                <a16:creationId xmlns:a16="http://schemas.microsoft.com/office/drawing/2014/main" id="{64B96C48-7A46-40E7-8EB5-B9CA120584A5}"/>
              </a:ext>
            </a:extLst>
          </p:cNvPr>
          <p:cNvCxnSpPr>
            <a:stCxn id="30" idx="2"/>
            <a:endCxn id="33" idx="1"/>
          </p:cNvCxnSpPr>
          <p:nvPr/>
        </p:nvCxnSpPr>
        <p:spPr>
          <a:xfrm rot="16200000" flipH="1">
            <a:off x="5077157" y="4953141"/>
            <a:ext cx="632466" cy="1694461"/>
          </a:xfrm>
          <a:prstGeom prst="bentConnector2">
            <a:avLst/>
          </a:prstGeom>
          <a:ln w="317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Соединитель: уступ 57">
            <a:extLst>
              <a:ext uri="{FF2B5EF4-FFF2-40B4-BE49-F238E27FC236}">
                <a16:creationId xmlns:a16="http://schemas.microsoft.com/office/drawing/2014/main" id="{BBEDBEBC-6B4C-425E-9C3B-A41ABE845330}"/>
              </a:ext>
            </a:extLst>
          </p:cNvPr>
          <p:cNvCxnSpPr>
            <a:stCxn id="28" idx="2"/>
          </p:cNvCxnSpPr>
          <p:nvPr/>
        </p:nvCxnSpPr>
        <p:spPr>
          <a:xfrm rot="16200000" flipH="1">
            <a:off x="5297892" y="4021984"/>
            <a:ext cx="232601" cy="718573"/>
          </a:xfrm>
          <a:prstGeom prst="bentConnector2">
            <a:avLst/>
          </a:prstGeom>
          <a:ln w="317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Соединитель: уступ 59">
            <a:extLst>
              <a:ext uri="{FF2B5EF4-FFF2-40B4-BE49-F238E27FC236}">
                <a16:creationId xmlns:a16="http://schemas.microsoft.com/office/drawing/2014/main" id="{28B5EBE8-EDCC-4EB1-8D02-2DC557C1945D}"/>
              </a:ext>
            </a:extLst>
          </p:cNvPr>
          <p:cNvCxnSpPr>
            <a:endCxn id="31" idx="1"/>
          </p:cNvCxnSpPr>
          <p:nvPr/>
        </p:nvCxnSpPr>
        <p:spPr>
          <a:xfrm rot="16200000" flipH="1">
            <a:off x="5635497" y="4614956"/>
            <a:ext cx="577888" cy="343117"/>
          </a:xfrm>
          <a:prstGeom prst="bentConnector2">
            <a:avLst/>
          </a:prstGeom>
          <a:ln w="317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 стрелкой 61">
            <a:extLst>
              <a:ext uri="{FF2B5EF4-FFF2-40B4-BE49-F238E27FC236}">
                <a16:creationId xmlns:a16="http://schemas.microsoft.com/office/drawing/2014/main" id="{2908EF96-461E-479C-98D4-68BF7CDA6534}"/>
              </a:ext>
            </a:extLst>
          </p:cNvPr>
          <p:cNvCxnSpPr>
            <a:stCxn id="31" idx="2"/>
            <a:endCxn id="33" idx="0"/>
          </p:cNvCxnSpPr>
          <p:nvPr/>
        </p:nvCxnSpPr>
        <p:spPr>
          <a:xfrm>
            <a:off x="7107957" y="5484139"/>
            <a:ext cx="0" cy="223786"/>
          </a:xfrm>
          <a:prstGeom prst="straightConnector1">
            <a:avLst/>
          </a:prstGeom>
          <a:ln w="317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Соединитель: уступ 63">
            <a:extLst>
              <a:ext uri="{FF2B5EF4-FFF2-40B4-BE49-F238E27FC236}">
                <a16:creationId xmlns:a16="http://schemas.microsoft.com/office/drawing/2014/main" id="{97FF15E0-B481-4407-9C1C-169FD52FFB9A}"/>
              </a:ext>
            </a:extLst>
          </p:cNvPr>
          <p:cNvCxnSpPr>
            <a:stCxn id="32" idx="2"/>
            <a:endCxn id="33" idx="3"/>
          </p:cNvCxnSpPr>
          <p:nvPr/>
        </p:nvCxnSpPr>
        <p:spPr>
          <a:xfrm rot="5400000">
            <a:off x="8501996" y="4948847"/>
            <a:ext cx="641054" cy="1694462"/>
          </a:xfrm>
          <a:prstGeom prst="bentConnector2">
            <a:avLst/>
          </a:prstGeom>
          <a:ln w="317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 стрелкой 65">
            <a:extLst>
              <a:ext uri="{FF2B5EF4-FFF2-40B4-BE49-F238E27FC236}">
                <a16:creationId xmlns:a16="http://schemas.microsoft.com/office/drawing/2014/main" id="{B18148D9-E9B9-4D24-B323-7D369798B2FC}"/>
              </a:ext>
            </a:extLst>
          </p:cNvPr>
          <p:cNvCxnSpPr>
            <a:stCxn id="37" idx="2"/>
            <a:endCxn id="36" idx="0"/>
          </p:cNvCxnSpPr>
          <p:nvPr/>
        </p:nvCxnSpPr>
        <p:spPr>
          <a:xfrm>
            <a:off x="10008258" y="2195451"/>
            <a:ext cx="0" cy="253617"/>
          </a:xfrm>
          <a:prstGeom prst="straightConnector1">
            <a:avLst/>
          </a:prstGeom>
          <a:ln w="317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 стрелкой 69">
            <a:extLst>
              <a:ext uri="{FF2B5EF4-FFF2-40B4-BE49-F238E27FC236}">
                <a16:creationId xmlns:a16="http://schemas.microsoft.com/office/drawing/2014/main" id="{524367C1-CADE-43B5-B034-D0184C941F52}"/>
              </a:ext>
            </a:extLst>
          </p:cNvPr>
          <p:cNvCxnSpPr>
            <a:stCxn id="36" idx="2"/>
            <a:endCxn id="35" idx="0"/>
          </p:cNvCxnSpPr>
          <p:nvPr/>
        </p:nvCxnSpPr>
        <p:spPr>
          <a:xfrm>
            <a:off x="10008258" y="3266428"/>
            <a:ext cx="0" cy="253617"/>
          </a:xfrm>
          <a:prstGeom prst="straightConnector1">
            <a:avLst/>
          </a:prstGeom>
          <a:ln w="317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Соединитель: уступ 71">
            <a:extLst>
              <a:ext uri="{FF2B5EF4-FFF2-40B4-BE49-F238E27FC236}">
                <a16:creationId xmlns:a16="http://schemas.microsoft.com/office/drawing/2014/main" id="{B1C9292A-583F-4632-8B9B-FAC2F528B49F}"/>
              </a:ext>
            </a:extLst>
          </p:cNvPr>
          <p:cNvCxnSpPr>
            <a:stCxn id="35" idx="3"/>
            <a:endCxn id="32" idx="3"/>
          </p:cNvCxnSpPr>
          <p:nvPr/>
        </p:nvCxnSpPr>
        <p:spPr>
          <a:xfrm flipH="1">
            <a:off x="10681711" y="3928725"/>
            <a:ext cx="193882" cy="1138146"/>
          </a:xfrm>
          <a:prstGeom prst="bentConnector3">
            <a:avLst>
              <a:gd name="adj1" fmla="val -216619"/>
            </a:avLst>
          </a:prstGeom>
          <a:ln w="317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Прямая со стрелкой 74">
            <a:extLst>
              <a:ext uri="{FF2B5EF4-FFF2-40B4-BE49-F238E27FC236}">
                <a16:creationId xmlns:a16="http://schemas.microsoft.com/office/drawing/2014/main" id="{034986AF-5E1A-4530-A46C-8C86C9DD52AB}"/>
              </a:ext>
            </a:extLst>
          </p:cNvPr>
          <p:cNvCxnSpPr>
            <a:stCxn id="28" idx="3"/>
            <a:endCxn id="34" idx="1"/>
          </p:cNvCxnSpPr>
          <p:nvPr/>
        </p:nvCxnSpPr>
        <p:spPr>
          <a:xfrm>
            <a:off x="5922241" y="3856291"/>
            <a:ext cx="657326" cy="0"/>
          </a:xfrm>
          <a:prstGeom prst="straightConnector1">
            <a:avLst/>
          </a:prstGeom>
          <a:ln w="317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Соединитель: уступ 78">
            <a:extLst>
              <a:ext uri="{FF2B5EF4-FFF2-40B4-BE49-F238E27FC236}">
                <a16:creationId xmlns:a16="http://schemas.microsoft.com/office/drawing/2014/main" id="{7509E080-3FFE-4ACB-A09D-0BBFAFF31D58}"/>
              </a:ext>
            </a:extLst>
          </p:cNvPr>
          <p:cNvCxnSpPr/>
          <p:nvPr/>
        </p:nvCxnSpPr>
        <p:spPr>
          <a:xfrm>
            <a:off x="5922242" y="4157330"/>
            <a:ext cx="1185714" cy="340240"/>
          </a:xfrm>
          <a:prstGeom prst="bentConnector3">
            <a:avLst>
              <a:gd name="adj1" fmla="val 23098"/>
            </a:avLst>
          </a:prstGeom>
          <a:ln w="317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Прямая соединительная линия 92">
            <a:extLst>
              <a:ext uri="{FF2B5EF4-FFF2-40B4-BE49-F238E27FC236}">
                <a16:creationId xmlns:a16="http://schemas.microsoft.com/office/drawing/2014/main" id="{6912E718-CEEA-4C7D-A8A1-1A7E71B7E9AB}"/>
              </a:ext>
            </a:extLst>
          </p:cNvPr>
          <p:cNvCxnSpPr/>
          <p:nvPr/>
        </p:nvCxnSpPr>
        <p:spPr>
          <a:xfrm>
            <a:off x="7075636" y="4497571"/>
            <a:ext cx="1714567" cy="0"/>
          </a:xfrm>
          <a:prstGeom prst="line">
            <a:avLst/>
          </a:prstGeom>
          <a:ln w="317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Прямая со стрелкой 94">
            <a:extLst>
              <a:ext uri="{FF2B5EF4-FFF2-40B4-BE49-F238E27FC236}">
                <a16:creationId xmlns:a16="http://schemas.microsoft.com/office/drawing/2014/main" id="{EE91F2FB-757A-4C26-86A3-970B2861B9AD}"/>
              </a:ext>
            </a:extLst>
          </p:cNvPr>
          <p:cNvCxnSpPr/>
          <p:nvPr/>
        </p:nvCxnSpPr>
        <p:spPr>
          <a:xfrm>
            <a:off x="8790203" y="4497570"/>
            <a:ext cx="0" cy="160621"/>
          </a:xfrm>
          <a:prstGeom prst="straightConnector1">
            <a:avLst/>
          </a:prstGeom>
          <a:ln w="317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Прямая со стрелкой 96">
            <a:extLst>
              <a:ext uri="{FF2B5EF4-FFF2-40B4-BE49-F238E27FC236}">
                <a16:creationId xmlns:a16="http://schemas.microsoft.com/office/drawing/2014/main" id="{29152922-28AC-4A1D-B112-B649AA4A1B6C}"/>
              </a:ext>
            </a:extLst>
          </p:cNvPr>
          <p:cNvCxnSpPr>
            <a:stCxn id="31" idx="0"/>
          </p:cNvCxnSpPr>
          <p:nvPr/>
        </p:nvCxnSpPr>
        <p:spPr>
          <a:xfrm flipH="1" flipV="1">
            <a:off x="7107956" y="4264971"/>
            <a:ext cx="1" cy="401808"/>
          </a:xfrm>
          <a:prstGeom prst="straightConnector1">
            <a:avLst/>
          </a:prstGeom>
          <a:ln w="317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Соединитель: уступ 98">
            <a:extLst>
              <a:ext uri="{FF2B5EF4-FFF2-40B4-BE49-F238E27FC236}">
                <a16:creationId xmlns:a16="http://schemas.microsoft.com/office/drawing/2014/main" id="{08E23A2F-4E6E-474F-A56F-AFD65B82C571}"/>
              </a:ext>
            </a:extLst>
          </p:cNvPr>
          <p:cNvCxnSpPr>
            <a:cxnSpLocks/>
          </p:cNvCxnSpPr>
          <p:nvPr/>
        </p:nvCxnSpPr>
        <p:spPr>
          <a:xfrm rot="16200000" flipV="1">
            <a:off x="8248425" y="3922103"/>
            <a:ext cx="801900" cy="670274"/>
          </a:xfrm>
          <a:prstGeom prst="bentConnector2">
            <a:avLst/>
          </a:prstGeom>
          <a:ln w="317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Соединитель: уступ 100">
            <a:extLst>
              <a:ext uri="{FF2B5EF4-FFF2-40B4-BE49-F238E27FC236}">
                <a16:creationId xmlns:a16="http://schemas.microsoft.com/office/drawing/2014/main" id="{4E7AC0C2-CE3D-4E6E-9256-E4F29DB91C5F}"/>
              </a:ext>
            </a:extLst>
          </p:cNvPr>
          <p:cNvCxnSpPr>
            <a:endCxn id="31" idx="3"/>
          </p:cNvCxnSpPr>
          <p:nvPr/>
        </p:nvCxnSpPr>
        <p:spPr>
          <a:xfrm rot="10800000" flipV="1">
            <a:off x="8119914" y="4157329"/>
            <a:ext cx="1021008" cy="918129"/>
          </a:xfrm>
          <a:prstGeom prst="bentConnector3">
            <a:avLst>
              <a:gd name="adj1" fmla="val 70828"/>
            </a:avLst>
          </a:prstGeom>
          <a:ln w="317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9496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F629FCE6-17AE-4664-8F63-4E9A710F8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Описание решения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E8A0C5-AC25-409F-BC62-48BE3E108B49}"/>
              </a:ext>
            </a:extLst>
          </p:cNvPr>
          <p:cNvSpPr txBox="1"/>
          <p:nvPr/>
        </p:nvSpPr>
        <p:spPr>
          <a:xfrm>
            <a:off x="3210416" y="993978"/>
            <a:ext cx="58499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005BAA"/>
                </a:solidFill>
                <a:latin typeface="Arial"/>
              </a:rPr>
              <a:t>Пространственно-временной поиск</a:t>
            </a:r>
            <a:r>
              <a:rPr lang="en-US" b="1" dirty="0">
                <a:solidFill>
                  <a:srgbClr val="005BAA"/>
                </a:solidFill>
                <a:latin typeface="Arial"/>
              </a:rPr>
              <a:t> </a:t>
            </a:r>
            <a:r>
              <a:rPr lang="ru-RU" b="1" dirty="0">
                <a:solidFill>
                  <a:srgbClr val="005BAA"/>
                </a:solidFill>
                <a:latin typeface="Arial"/>
              </a:rPr>
              <a:t>на базе </a:t>
            </a:r>
            <a:r>
              <a:rPr lang="en-US" b="1" dirty="0">
                <a:solidFill>
                  <a:srgbClr val="005BAA"/>
                </a:solidFill>
                <a:latin typeface="Arial"/>
              </a:rPr>
              <a:t>S2</a:t>
            </a:r>
            <a:endParaRPr lang="ru-RU" sz="1800" b="1" i="0" dirty="0">
              <a:solidFill>
                <a:srgbClr val="005BAA"/>
              </a:solidFill>
              <a:latin typeface="Arial"/>
            </a:endParaRPr>
          </a:p>
        </p:txBody>
      </p:sp>
      <p:sp>
        <p:nvSpPr>
          <p:cNvPr id="6" name="Rounded Rectangle 18">
            <a:extLst>
              <a:ext uri="{FF2B5EF4-FFF2-40B4-BE49-F238E27FC236}">
                <a16:creationId xmlns:a16="http://schemas.microsoft.com/office/drawing/2014/main" id="{1D60396F-54DC-4B6C-B099-23F4746A9D95}"/>
              </a:ext>
            </a:extLst>
          </p:cNvPr>
          <p:cNvSpPr/>
          <p:nvPr/>
        </p:nvSpPr>
        <p:spPr>
          <a:xfrm>
            <a:off x="157524" y="1733394"/>
            <a:ext cx="2123349" cy="1616701"/>
          </a:xfrm>
          <a:prstGeom prst="roundRect">
            <a:avLst/>
          </a:prstGeom>
          <a:solidFill>
            <a:srgbClr val="E7F3FD"/>
          </a:solidFill>
          <a:ln w="12700">
            <a:solidFill>
              <a:srgbClr val="00A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>
            <a:normAutofit/>
          </a:bodyPr>
          <a:lstStyle/>
          <a:p>
            <a:pPr algn="l"/>
            <a:r>
              <a:rPr lang="ru-RU" dirty="0">
                <a:solidFill>
                  <a:srgbClr val="272D3A"/>
                </a:solidFill>
                <a:latin typeface="Arial"/>
              </a:rPr>
              <a:t>Составной индекс по  времени и пространству</a:t>
            </a:r>
            <a:endParaRPr dirty="0">
              <a:solidFill>
                <a:srgbClr val="272D3A"/>
              </a:solidFill>
              <a:latin typeface="Arial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875733F-214C-4CD3-AC43-480F00AF3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7254" y="1401526"/>
            <a:ext cx="2416455" cy="2121765"/>
          </a:xfrm>
          <a:prstGeom prst="roundRect">
            <a:avLst/>
          </a:prstGeom>
        </p:spPr>
      </p:pic>
      <p:sp>
        <p:nvSpPr>
          <p:cNvPr id="10" name="Rounded Rectangle 18">
            <a:extLst>
              <a:ext uri="{FF2B5EF4-FFF2-40B4-BE49-F238E27FC236}">
                <a16:creationId xmlns:a16="http://schemas.microsoft.com/office/drawing/2014/main" id="{12534149-24CC-4323-8FFF-09CDE09670EF}"/>
              </a:ext>
            </a:extLst>
          </p:cNvPr>
          <p:cNvSpPr/>
          <p:nvPr/>
        </p:nvSpPr>
        <p:spPr>
          <a:xfrm>
            <a:off x="5087002" y="2299963"/>
            <a:ext cx="2165444" cy="897525"/>
          </a:xfrm>
          <a:prstGeom prst="roundRect">
            <a:avLst/>
          </a:prstGeom>
          <a:solidFill>
            <a:srgbClr val="E7F3FD"/>
          </a:solidFill>
          <a:ln w="1270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>
            <a:normAutofit/>
          </a:bodyPr>
          <a:lstStyle/>
          <a:p>
            <a:pPr algn="l"/>
            <a:r>
              <a:rPr lang="en-US" sz="1400" dirty="0">
                <a:solidFill>
                  <a:srgbClr val="272D3A"/>
                </a:solidFill>
                <a:latin typeface="Arial"/>
              </a:rPr>
              <a:t>(</a:t>
            </a:r>
            <a:r>
              <a:rPr lang="ru-RU" sz="1400" dirty="0">
                <a:solidFill>
                  <a:srgbClr val="272D3A"/>
                </a:solidFill>
                <a:latin typeface="Arial"/>
              </a:rPr>
              <a:t>59,9729</a:t>
            </a:r>
            <a:r>
              <a:rPr lang="en-US" sz="1400" dirty="0">
                <a:solidFill>
                  <a:srgbClr val="272D3A"/>
                </a:solidFill>
                <a:latin typeface="Arial"/>
              </a:rPr>
              <a:t>8, 30,45088)</a:t>
            </a:r>
          </a:p>
          <a:p>
            <a:pPr algn="l"/>
            <a:r>
              <a:rPr lang="en-US" sz="1400" dirty="0">
                <a:solidFill>
                  <a:srgbClr val="272D3A"/>
                </a:solidFill>
                <a:latin typeface="Arial"/>
              </a:rPr>
              <a:t>2026-05-09T09:13:35Z</a:t>
            </a:r>
            <a:endParaRPr sz="1400" dirty="0">
              <a:solidFill>
                <a:srgbClr val="272D3A"/>
              </a:solidFill>
              <a:latin typeface="Arial"/>
            </a:endParaRPr>
          </a:p>
        </p:txBody>
      </p:sp>
      <p:sp>
        <p:nvSpPr>
          <p:cNvPr id="11" name="Rounded Rectangle 18">
            <a:extLst>
              <a:ext uri="{FF2B5EF4-FFF2-40B4-BE49-F238E27FC236}">
                <a16:creationId xmlns:a16="http://schemas.microsoft.com/office/drawing/2014/main" id="{2F8F92A7-63A5-4344-81B0-7ABFB69226C9}"/>
              </a:ext>
            </a:extLst>
          </p:cNvPr>
          <p:cNvSpPr/>
          <p:nvPr/>
        </p:nvSpPr>
        <p:spPr>
          <a:xfrm>
            <a:off x="8117076" y="2317365"/>
            <a:ext cx="3752197" cy="897525"/>
          </a:xfrm>
          <a:prstGeom prst="roundRect">
            <a:avLst/>
          </a:prstGeom>
          <a:solidFill>
            <a:srgbClr val="E7F3FD"/>
          </a:solidFill>
          <a:ln w="1270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>
            <a:normAutofit/>
          </a:bodyPr>
          <a:lstStyle/>
          <a:p>
            <a:pPr algn="l"/>
            <a:r>
              <a:rPr lang="en-US" sz="1400" dirty="0">
                <a:solidFill>
                  <a:srgbClr val="272D3A"/>
                </a:solidFill>
                <a:latin typeface="Arial"/>
              </a:rPr>
              <a:t>S2: 5086308267794104320</a:t>
            </a:r>
            <a:r>
              <a:rPr lang="ru-RU" sz="1400" dirty="0">
                <a:solidFill>
                  <a:srgbClr val="272D3A"/>
                </a:solidFill>
                <a:latin typeface="Arial"/>
              </a:rPr>
              <a:t> (16 уровень)</a:t>
            </a:r>
            <a:endParaRPr lang="en-US" sz="1400" dirty="0">
              <a:solidFill>
                <a:srgbClr val="272D3A"/>
              </a:solidFill>
              <a:latin typeface="Arial"/>
            </a:endParaRPr>
          </a:p>
          <a:p>
            <a:pPr algn="l"/>
            <a:r>
              <a:rPr lang="en-US" sz="1400" dirty="0">
                <a:solidFill>
                  <a:srgbClr val="272D3A"/>
                </a:solidFill>
                <a:latin typeface="Arial"/>
              </a:rPr>
              <a:t>2026-05-09T09:10:00Z</a:t>
            </a:r>
            <a:r>
              <a:rPr lang="ru-RU" sz="1400" dirty="0">
                <a:solidFill>
                  <a:srgbClr val="272D3A"/>
                </a:solidFill>
                <a:latin typeface="Arial"/>
              </a:rPr>
              <a:t> (обрезка до 5 мин)</a:t>
            </a:r>
            <a:endParaRPr sz="1400" dirty="0">
              <a:solidFill>
                <a:srgbClr val="272D3A"/>
              </a:solidFill>
              <a:latin typeface="Arial"/>
            </a:endParaRPr>
          </a:p>
        </p:txBody>
      </p:sp>
      <p:sp>
        <p:nvSpPr>
          <p:cNvPr id="12" name="Стрелка: вправо 11">
            <a:extLst>
              <a:ext uri="{FF2B5EF4-FFF2-40B4-BE49-F238E27FC236}">
                <a16:creationId xmlns:a16="http://schemas.microsoft.com/office/drawing/2014/main" id="{EE5364E1-C049-4687-A658-BC93DBAADF3D}"/>
              </a:ext>
            </a:extLst>
          </p:cNvPr>
          <p:cNvSpPr/>
          <p:nvPr/>
        </p:nvSpPr>
        <p:spPr>
          <a:xfrm>
            <a:off x="7530187" y="2690923"/>
            <a:ext cx="424566" cy="211235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000" dirty="0">
              <a:solidFill>
                <a:schemeClr val="tx2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35AB3F-B64C-449E-BF18-A67305758763}"/>
              </a:ext>
            </a:extLst>
          </p:cNvPr>
          <p:cNvSpPr txBox="1"/>
          <p:nvPr/>
        </p:nvSpPr>
        <p:spPr>
          <a:xfrm>
            <a:off x="5153081" y="1870561"/>
            <a:ext cx="1634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b="1" i="0" dirty="0">
                <a:solidFill>
                  <a:srgbClr val="005BAA"/>
                </a:solidFill>
                <a:latin typeface="Arial"/>
              </a:rPr>
              <a:t>Показатели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6F539D-145A-40A2-838B-DA74626026DC}"/>
              </a:ext>
            </a:extLst>
          </p:cNvPr>
          <p:cNvSpPr txBox="1"/>
          <p:nvPr/>
        </p:nvSpPr>
        <p:spPr>
          <a:xfrm>
            <a:off x="6860474" y="1873500"/>
            <a:ext cx="20048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b="1" i="0" dirty="0">
                <a:solidFill>
                  <a:srgbClr val="005BAA"/>
                </a:solidFill>
                <a:latin typeface="Arial"/>
              </a:rPr>
              <a:t>Дискретизация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54C195-F125-4156-8913-743FC3E7509F}"/>
              </a:ext>
            </a:extLst>
          </p:cNvPr>
          <p:cNvSpPr txBox="1"/>
          <p:nvPr/>
        </p:nvSpPr>
        <p:spPr>
          <a:xfrm>
            <a:off x="9009062" y="1892873"/>
            <a:ext cx="21654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b="1" i="0" dirty="0">
                <a:solidFill>
                  <a:srgbClr val="005BAA"/>
                </a:solidFill>
                <a:latin typeface="Arial"/>
              </a:rPr>
              <a:t>В базе данных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53CDC3E9-5697-42D2-8C12-134CA2BCEB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935" y="4343980"/>
            <a:ext cx="2000529" cy="2314898"/>
          </a:xfrm>
          <a:prstGeom prst="round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68BC05D-FD30-4295-AB88-9074AC1287CC}"/>
              </a:ext>
            </a:extLst>
          </p:cNvPr>
          <p:cNvSpPr txBox="1"/>
          <p:nvPr/>
        </p:nvSpPr>
        <p:spPr>
          <a:xfrm>
            <a:off x="5149345" y="3596783"/>
            <a:ext cx="3257049" cy="408623"/>
          </a:xfrm>
          <a:prstGeom prst="round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ru-RU" sz="1800" b="1" i="0" dirty="0">
                <a:solidFill>
                  <a:srgbClr val="005BAA"/>
                </a:solidFill>
                <a:latin typeface="Arial"/>
              </a:rPr>
              <a:t>Поиск телеметрии</a:t>
            </a:r>
          </a:p>
        </p:txBody>
      </p:sp>
      <p:sp>
        <p:nvSpPr>
          <p:cNvPr id="24" name="Rounded Rectangle 18">
            <a:extLst>
              <a:ext uri="{FF2B5EF4-FFF2-40B4-BE49-F238E27FC236}">
                <a16:creationId xmlns:a16="http://schemas.microsoft.com/office/drawing/2014/main" id="{6FFB67C8-C50D-48C4-9E8A-E58980540CD0}"/>
              </a:ext>
            </a:extLst>
          </p:cNvPr>
          <p:cNvSpPr/>
          <p:nvPr/>
        </p:nvSpPr>
        <p:spPr>
          <a:xfrm>
            <a:off x="2507254" y="4664045"/>
            <a:ext cx="4074569" cy="1373425"/>
          </a:xfrm>
          <a:prstGeom prst="roundRect">
            <a:avLst/>
          </a:prstGeom>
          <a:solidFill>
            <a:srgbClr val="E7F3FD"/>
          </a:solidFill>
          <a:ln w="1270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>
            <a:normAutofit fontScale="92500" lnSpcReduction="10000"/>
          </a:bodyPr>
          <a:lstStyle/>
          <a:p>
            <a:r>
              <a:rPr lang="en-US" sz="1600" dirty="0">
                <a:solidFill>
                  <a:srgbClr val="272D3A"/>
                </a:solidFill>
                <a:latin typeface="Arial"/>
              </a:rPr>
              <a:t>S2: 5086308267525668864 (</a:t>
            </a:r>
            <a:r>
              <a:rPr lang="ru-RU" sz="1600" dirty="0">
                <a:solidFill>
                  <a:srgbClr val="272D3A"/>
                </a:solidFill>
                <a:latin typeface="Arial"/>
              </a:rPr>
              <a:t>уровень 15) </a:t>
            </a:r>
          </a:p>
          <a:p>
            <a:br>
              <a:rPr lang="ru-RU" sz="1600" dirty="0">
                <a:solidFill>
                  <a:srgbClr val="272D3A"/>
                </a:solidFill>
                <a:latin typeface="Arial"/>
              </a:rPr>
            </a:br>
            <a:r>
              <a:rPr lang="ru-RU" sz="1600" dirty="0">
                <a:solidFill>
                  <a:srgbClr val="272D3A"/>
                </a:solidFill>
                <a:latin typeface="Arial"/>
              </a:rPr>
              <a:t>Время: интервал</a:t>
            </a:r>
            <a:br>
              <a:rPr lang="ru-RU" sz="1600" dirty="0">
                <a:solidFill>
                  <a:srgbClr val="272D3A"/>
                </a:solidFill>
                <a:latin typeface="Arial"/>
              </a:rPr>
            </a:br>
            <a:r>
              <a:rPr lang="en-US" sz="1600" dirty="0">
                <a:solidFill>
                  <a:srgbClr val="272D3A"/>
                </a:solidFill>
                <a:latin typeface="Arial"/>
              </a:rPr>
              <a:t>[2026-05-09T09:</a:t>
            </a:r>
            <a:r>
              <a:rPr lang="ru-RU" sz="1600" dirty="0">
                <a:solidFill>
                  <a:srgbClr val="272D3A"/>
                </a:solidFill>
                <a:latin typeface="Arial"/>
              </a:rPr>
              <a:t>0</a:t>
            </a:r>
            <a:r>
              <a:rPr lang="en-US" sz="1600" dirty="0">
                <a:solidFill>
                  <a:srgbClr val="272D3A"/>
                </a:solidFill>
                <a:latin typeface="Arial"/>
              </a:rPr>
              <a:t>0:00Z,2026-05-09T09:</a:t>
            </a:r>
            <a:r>
              <a:rPr lang="ru-RU" sz="1600" dirty="0">
                <a:solidFill>
                  <a:srgbClr val="272D3A"/>
                </a:solidFill>
                <a:latin typeface="Arial"/>
              </a:rPr>
              <a:t>20</a:t>
            </a:r>
            <a:r>
              <a:rPr lang="en-US" sz="1600" dirty="0">
                <a:solidFill>
                  <a:srgbClr val="272D3A"/>
                </a:solidFill>
                <a:latin typeface="Arial"/>
              </a:rPr>
              <a:t>:00Z]</a:t>
            </a:r>
          </a:p>
          <a:p>
            <a:pPr algn="l"/>
            <a:endParaRPr sz="1600" dirty="0">
              <a:solidFill>
                <a:srgbClr val="272D3A"/>
              </a:solidFill>
              <a:latin typeface="Arial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EE26ED0-0B14-480A-A205-55613399BDFC}"/>
              </a:ext>
            </a:extLst>
          </p:cNvPr>
          <p:cNvSpPr txBox="1"/>
          <p:nvPr/>
        </p:nvSpPr>
        <p:spPr>
          <a:xfrm>
            <a:off x="2938803" y="3936259"/>
            <a:ext cx="29411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b="1" i="0" dirty="0">
                <a:solidFill>
                  <a:srgbClr val="005BAA"/>
                </a:solidFill>
                <a:latin typeface="Arial"/>
              </a:rPr>
              <a:t>Поисковый запрос</a:t>
            </a:r>
            <a:br>
              <a:rPr lang="ru-RU" sz="1800" b="1" i="0" dirty="0">
                <a:solidFill>
                  <a:srgbClr val="005BAA"/>
                </a:solidFill>
                <a:latin typeface="Arial"/>
              </a:rPr>
            </a:br>
            <a:r>
              <a:rPr lang="ru-RU" sz="1800" b="1" i="0" dirty="0">
                <a:solidFill>
                  <a:srgbClr val="005BAA"/>
                </a:solidFill>
                <a:latin typeface="Arial"/>
              </a:rPr>
              <a:t>(пространство и время)</a:t>
            </a:r>
          </a:p>
        </p:txBody>
      </p:sp>
      <p:sp>
        <p:nvSpPr>
          <p:cNvPr id="26" name="Стрелка: вправо 25">
            <a:extLst>
              <a:ext uri="{FF2B5EF4-FFF2-40B4-BE49-F238E27FC236}">
                <a16:creationId xmlns:a16="http://schemas.microsoft.com/office/drawing/2014/main" id="{966EF5BA-6D24-4F36-BD21-2395F6CACD02}"/>
              </a:ext>
            </a:extLst>
          </p:cNvPr>
          <p:cNvSpPr/>
          <p:nvPr/>
        </p:nvSpPr>
        <p:spPr>
          <a:xfrm>
            <a:off x="6644576" y="5219281"/>
            <a:ext cx="755510" cy="242787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000" dirty="0">
              <a:solidFill>
                <a:schemeClr val="tx2"/>
              </a:solidFill>
            </a:endParaRPr>
          </a:p>
        </p:txBody>
      </p:sp>
      <p:sp>
        <p:nvSpPr>
          <p:cNvPr id="27" name="Rounded Rectangle 18">
            <a:extLst>
              <a:ext uri="{FF2B5EF4-FFF2-40B4-BE49-F238E27FC236}">
                <a16:creationId xmlns:a16="http://schemas.microsoft.com/office/drawing/2014/main" id="{0EF6DE5C-66F9-4237-A567-049BCA362542}"/>
              </a:ext>
            </a:extLst>
          </p:cNvPr>
          <p:cNvSpPr/>
          <p:nvPr/>
        </p:nvSpPr>
        <p:spPr>
          <a:xfrm>
            <a:off x="7462840" y="4653961"/>
            <a:ext cx="4406434" cy="1373425"/>
          </a:xfrm>
          <a:prstGeom prst="roundRect">
            <a:avLst/>
          </a:prstGeom>
          <a:solidFill>
            <a:srgbClr val="E7F3FD"/>
          </a:solidFill>
          <a:ln w="1270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>
            <a:normAutofit/>
          </a:bodyPr>
          <a:lstStyle/>
          <a:p>
            <a:r>
              <a:rPr lang="en-US" sz="1400" dirty="0">
                <a:solidFill>
                  <a:srgbClr val="272D3A"/>
                </a:solidFill>
                <a:latin typeface="Arial"/>
              </a:rPr>
              <a:t>S2: </a:t>
            </a:r>
            <a:r>
              <a:rPr lang="ru-RU" sz="1400" dirty="0">
                <a:solidFill>
                  <a:srgbClr val="272D3A"/>
                </a:solidFill>
                <a:latin typeface="Arial"/>
              </a:rPr>
              <a:t>интервал </a:t>
            </a:r>
            <a:r>
              <a:rPr lang="en-US" sz="1400" dirty="0">
                <a:solidFill>
                  <a:srgbClr val="272D3A"/>
                </a:solidFill>
                <a:latin typeface="Arial"/>
              </a:rPr>
              <a:t>[</a:t>
            </a:r>
            <a:r>
              <a:rPr lang="ru-RU" sz="1400" dirty="0">
                <a:solidFill>
                  <a:srgbClr val="272D3A"/>
                </a:solidFill>
                <a:latin typeface="Arial"/>
              </a:rPr>
              <a:t>5086308267525668864</a:t>
            </a:r>
            <a:r>
              <a:rPr lang="en-US" sz="1400" dirty="0">
                <a:solidFill>
                  <a:srgbClr val="272D3A"/>
                </a:solidFill>
                <a:latin typeface="Arial"/>
              </a:rPr>
              <a:t>2,</a:t>
            </a:r>
            <a:r>
              <a:rPr lang="ru-RU" sz="1400" dirty="0">
                <a:solidFill>
                  <a:srgbClr val="272D3A"/>
                </a:solidFill>
                <a:latin typeface="Arial"/>
              </a:rPr>
              <a:t> 5086308269673152512</a:t>
            </a:r>
            <a:r>
              <a:rPr lang="en-US" sz="1400" dirty="0">
                <a:solidFill>
                  <a:srgbClr val="272D3A"/>
                </a:solidFill>
                <a:latin typeface="Arial"/>
              </a:rPr>
              <a:t>]</a:t>
            </a:r>
            <a:r>
              <a:rPr lang="ru-RU" sz="1400" dirty="0">
                <a:solidFill>
                  <a:srgbClr val="272D3A"/>
                </a:solidFill>
                <a:latin typeface="Arial"/>
              </a:rPr>
              <a:t> (уровень 16)</a:t>
            </a:r>
          </a:p>
          <a:p>
            <a:br>
              <a:rPr lang="ru-RU" sz="1400" dirty="0">
                <a:solidFill>
                  <a:srgbClr val="272D3A"/>
                </a:solidFill>
                <a:latin typeface="Arial"/>
              </a:rPr>
            </a:br>
            <a:r>
              <a:rPr lang="ru-RU" sz="1400" dirty="0">
                <a:solidFill>
                  <a:srgbClr val="272D3A"/>
                </a:solidFill>
                <a:latin typeface="Arial"/>
              </a:rPr>
              <a:t>Время: интервал</a:t>
            </a:r>
            <a:br>
              <a:rPr lang="ru-RU" sz="1400" dirty="0">
                <a:solidFill>
                  <a:srgbClr val="272D3A"/>
                </a:solidFill>
                <a:latin typeface="Arial"/>
              </a:rPr>
            </a:br>
            <a:r>
              <a:rPr lang="en-US" sz="1400" dirty="0">
                <a:solidFill>
                  <a:srgbClr val="272D3A"/>
                </a:solidFill>
                <a:latin typeface="Arial"/>
              </a:rPr>
              <a:t>[2026-05-09T09:</a:t>
            </a:r>
            <a:r>
              <a:rPr lang="ru-RU" sz="1400" dirty="0">
                <a:solidFill>
                  <a:srgbClr val="272D3A"/>
                </a:solidFill>
                <a:latin typeface="Arial"/>
              </a:rPr>
              <a:t>0</a:t>
            </a:r>
            <a:r>
              <a:rPr lang="en-US" sz="1400" dirty="0">
                <a:solidFill>
                  <a:srgbClr val="272D3A"/>
                </a:solidFill>
                <a:latin typeface="Arial"/>
              </a:rPr>
              <a:t>0:00Z,2026-05-09T09:</a:t>
            </a:r>
            <a:r>
              <a:rPr lang="ru-RU" sz="1400" dirty="0">
                <a:solidFill>
                  <a:srgbClr val="272D3A"/>
                </a:solidFill>
                <a:latin typeface="Arial"/>
              </a:rPr>
              <a:t>20</a:t>
            </a:r>
            <a:r>
              <a:rPr lang="en-US" sz="1400" dirty="0">
                <a:solidFill>
                  <a:srgbClr val="272D3A"/>
                </a:solidFill>
                <a:latin typeface="Arial"/>
              </a:rPr>
              <a:t>:00Z]</a:t>
            </a:r>
          </a:p>
          <a:p>
            <a:pPr algn="l"/>
            <a:endParaRPr sz="1400" dirty="0">
              <a:solidFill>
                <a:srgbClr val="272D3A"/>
              </a:solidFill>
              <a:latin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C7CA4E8-50F5-42FA-9A9B-32610F2F66AD}"/>
              </a:ext>
            </a:extLst>
          </p:cNvPr>
          <p:cNvSpPr txBox="1"/>
          <p:nvPr/>
        </p:nvSpPr>
        <p:spPr>
          <a:xfrm>
            <a:off x="5890196" y="3982290"/>
            <a:ext cx="20048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005BAA"/>
                </a:solidFill>
                <a:latin typeface="Arial"/>
              </a:rPr>
              <a:t>S2-</a:t>
            </a:r>
            <a:r>
              <a:rPr lang="ru-RU" b="1" dirty="0">
                <a:solidFill>
                  <a:srgbClr val="005BAA"/>
                </a:solidFill>
                <a:latin typeface="Arial"/>
              </a:rPr>
              <a:t>индексация (16 уровень)</a:t>
            </a:r>
            <a:endParaRPr lang="ru-RU" sz="1800" b="1" i="0" dirty="0">
              <a:solidFill>
                <a:srgbClr val="005BAA"/>
              </a:solidFill>
              <a:latin typeface="Arial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3502DED-9C2E-4687-B21D-0CD27A7EEC56}"/>
              </a:ext>
            </a:extLst>
          </p:cNvPr>
          <p:cNvSpPr txBox="1"/>
          <p:nvPr/>
        </p:nvSpPr>
        <p:spPr>
          <a:xfrm>
            <a:off x="7710278" y="3968957"/>
            <a:ext cx="30824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b="1" i="0" dirty="0">
                <a:solidFill>
                  <a:srgbClr val="005BAA"/>
                </a:solidFill>
                <a:latin typeface="Arial"/>
              </a:rPr>
              <a:t>Итоговые условия для запроса в базе данных</a:t>
            </a:r>
          </a:p>
        </p:txBody>
      </p:sp>
      <p:sp>
        <p:nvSpPr>
          <p:cNvPr id="30" name="Rounded Rectangle 18">
            <a:extLst>
              <a:ext uri="{FF2B5EF4-FFF2-40B4-BE49-F238E27FC236}">
                <a16:creationId xmlns:a16="http://schemas.microsoft.com/office/drawing/2014/main" id="{60EF5499-CC3F-4E87-BA5A-EF567C4BD144}"/>
              </a:ext>
            </a:extLst>
          </p:cNvPr>
          <p:cNvSpPr/>
          <p:nvPr/>
        </p:nvSpPr>
        <p:spPr>
          <a:xfrm>
            <a:off x="2507255" y="6154880"/>
            <a:ext cx="8761380" cy="485786"/>
          </a:xfrm>
          <a:prstGeom prst="roundRect">
            <a:avLst/>
          </a:prstGeom>
          <a:solidFill>
            <a:srgbClr val="E7F3FD"/>
          </a:solidFill>
          <a:ln w="1270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>
            <a:normAutofit fontScale="92500"/>
          </a:bodyPr>
          <a:lstStyle/>
          <a:p>
            <a:pPr algn="l"/>
            <a:r>
              <a:rPr lang="ru-RU" dirty="0">
                <a:solidFill>
                  <a:srgbClr val="272D3A"/>
                </a:solidFill>
                <a:latin typeface="Arial"/>
              </a:rPr>
              <a:t>Мощность индекса: В СПб </a:t>
            </a:r>
            <a:r>
              <a:rPr lang="en-US" dirty="0">
                <a:solidFill>
                  <a:srgbClr val="272D3A"/>
                </a:solidFill>
                <a:latin typeface="Arial"/>
              </a:rPr>
              <a:t>~75000 </a:t>
            </a:r>
            <a:r>
              <a:rPr lang="ru-RU" dirty="0">
                <a:solidFill>
                  <a:srgbClr val="272D3A"/>
                </a:solidFill>
                <a:latin typeface="Arial"/>
              </a:rPr>
              <a:t>зон </a:t>
            </a:r>
            <a:r>
              <a:rPr lang="en-US" dirty="0">
                <a:solidFill>
                  <a:srgbClr val="272D3A"/>
                </a:solidFill>
                <a:latin typeface="Arial"/>
              </a:rPr>
              <a:t>S2; </a:t>
            </a:r>
            <a:r>
              <a:rPr lang="ru-RU" dirty="0">
                <a:solidFill>
                  <a:srgbClr val="272D3A"/>
                </a:solidFill>
                <a:latin typeface="Arial"/>
              </a:rPr>
              <a:t>в 24 часах 288</a:t>
            </a:r>
            <a:r>
              <a:rPr lang="en-US" dirty="0">
                <a:solidFill>
                  <a:srgbClr val="272D3A"/>
                </a:solidFill>
                <a:latin typeface="Arial"/>
              </a:rPr>
              <a:t> </a:t>
            </a:r>
            <a:r>
              <a:rPr lang="ru-RU" dirty="0">
                <a:solidFill>
                  <a:srgbClr val="272D3A"/>
                </a:solidFill>
                <a:latin typeface="Arial"/>
              </a:rPr>
              <a:t>интервалов по 5 минут</a:t>
            </a:r>
            <a:endParaRPr dirty="0">
              <a:solidFill>
                <a:srgbClr val="272D3A"/>
              </a:solidFill>
              <a:latin typeface="Arial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FC4DD8-1E61-4FF2-A4D2-FB339A471E5E}"/>
              </a:ext>
            </a:extLst>
          </p:cNvPr>
          <p:cNvSpPr txBox="1"/>
          <p:nvPr/>
        </p:nvSpPr>
        <p:spPr>
          <a:xfrm>
            <a:off x="5159486" y="1420241"/>
            <a:ext cx="3257049" cy="408623"/>
          </a:xfrm>
          <a:prstGeom prst="round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ru-RU" sz="1800" b="1" i="0" dirty="0">
                <a:solidFill>
                  <a:srgbClr val="005BAA"/>
                </a:solidFill>
                <a:latin typeface="Arial"/>
              </a:rPr>
              <a:t>Обработка телеметрии</a:t>
            </a:r>
          </a:p>
        </p:txBody>
      </p:sp>
    </p:spTree>
    <p:extLst>
      <p:ext uri="{BB962C8B-B14F-4D97-AF65-F5344CB8AC3E}">
        <p14:creationId xmlns:p14="http://schemas.microsoft.com/office/powerpoint/2010/main" val="346449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F629FCE6-17AE-4664-8F63-4E9A710F8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Описание решения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E8A0C5-AC25-409F-BC62-48BE3E108B49}"/>
              </a:ext>
            </a:extLst>
          </p:cNvPr>
          <p:cNvSpPr txBox="1"/>
          <p:nvPr/>
        </p:nvSpPr>
        <p:spPr>
          <a:xfrm>
            <a:off x="3221049" y="993978"/>
            <a:ext cx="58499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005BAA"/>
                </a:solidFill>
                <a:latin typeface="Arial"/>
              </a:rPr>
              <a:t>Пространственный поиск на базе </a:t>
            </a:r>
            <a:r>
              <a:rPr lang="en-US" b="1" dirty="0">
                <a:solidFill>
                  <a:srgbClr val="005BAA"/>
                </a:solidFill>
                <a:latin typeface="Arial"/>
              </a:rPr>
              <a:t>S2</a:t>
            </a:r>
            <a:endParaRPr lang="ru-RU" sz="1800" b="1" i="0" dirty="0">
              <a:solidFill>
                <a:srgbClr val="005BAA"/>
              </a:solidFill>
              <a:latin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B659D72-8E28-4245-A553-3E7D8D458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467" y="4162528"/>
            <a:ext cx="2885959" cy="2489284"/>
          </a:xfrm>
          <a:prstGeom prst="round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1434E7A-0CAC-4F8B-A8BD-932514DCF5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551" y="1110208"/>
            <a:ext cx="2884979" cy="2925707"/>
          </a:xfrm>
          <a:prstGeom prst="round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0F139681-480C-4228-8989-5A8FD444A937}"/>
              </a:ext>
            </a:extLst>
          </p:cNvPr>
          <p:cNvSpPr txBox="1"/>
          <p:nvPr/>
        </p:nvSpPr>
        <p:spPr>
          <a:xfrm>
            <a:off x="4065792" y="1429271"/>
            <a:ext cx="3545243" cy="783193"/>
          </a:xfrm>
          <a:prstGeom prst="round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srgbClr val="005BAA"/>
                </a:solidFill>
                <a:latin typeface="Arial"/>
              </a:rPr>
              <a:t>Заполнение зон </a:t>
            </a:r>
            <a:r>
              <a:rPr lang="en-US" sz="2000" b="1" dirty="0">
                <a:solidFill>
                  <a:srgbClr val="005BAA"/>
                </a:solidFill>
                <a:latin typeface="Arial"/>
              </a:rPr>
              <a:t>S2-</a:t>
            </a:r>
            <a:r>
              <a:rPr lang="ru-RU" sz="2000" b="1" dirty="0">
                <a:solidFill>
                  <a:srgbClr val="005BAA"/>
                </a:solidFill>
                <a:latin typeface="Arial"/>
              </a:rPr>
              <a:t>зонами</a:t>
            </a:r>
            <a:endParaRPr lang="ru-RU" sz="2000" b="1" i="0" dirty="0">
              <a:solidFill>
                <a:srgbClr val="005BAA"/>
              </a:solidFill>
              <a:latin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088A0F1-0E8E-4646-A973-4A9EB61BCE05}"/>
              </a:ext>
            </a:extLst>
          </p:cNvPr>
          <p:cNvSpPr txBox="1"/>
          <p:nvPr/>
        </p:nvSpPr>
        <p:spPr>
          <a:xfrm>
            <a:off x="4065792" y="2505098"/>
            <a:ext cx="3545243" cy="783193"/>
          </a:xfrm>
          <a:prstGeom prst="round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srgbClr val="005BAA"/>
                </a:solidFill>
                <a:latin typeface="Arial"/>
              </a:rPr>
              <a:t>Представление в виде </a:t>
            </a:r>
            <a:r>
              <a:rPr lang="en-US" sz="2000" b="1" dirty="0">
                <a:solidFill>
                  <a:srgbClr val="005BAA"/>
                </a:solidFill>
                <a:latin typeface="Arial"/>
              </a:rPr>
              <a:t>S2-</a:t>
            </a:r>
            <a:r>
              <a:rPr lang="ru-RU" sz="2000" b="1" dirty="0">
                <a:solidFill>
                  <a:srgbClr val="005BAA"/>
                </a:solidFill>
                <a:latin typeface="Arial"/>
              </a:rPr>
              <a:t>интервалов</a:t>
            </a:r>
            <a:endParaRPr lang="ru-RU" sz="2000" b="1" i="0" dirty="0">
              <a:solidFill>
                <a:srgbClr val="005BAA"/>
              </a:solidFill>
              <a:latin typeface="Arial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FC04075-461A-4C52-B9FE-02327A1FB7F2}"/>
              </a:ext>
            </a:extLst>
          </p:cNvPr>
          <p:cNvSpPr txBox="1"/>
          <p:nvPr/>
        </p:nvSpPr>
        <p:spPr>
          <a:xfrm>
            <a:off x="4062202" y="3611126"/>
            <a:ext cx="3548834" cy="1123712"/>
          </a:xfrm>
          <a:prstGeom prst="round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ru-RU" sz="2000" b="1" i="0" dirty="0">
                <a:solidFill>
                  <a:srgbClr val="005BAA"/>
                </a:solidFill>
                <a:latin typeface="Arial"/>
              </a:rPr>
              <a:t>Слияние смежных и пересекающихся интервалов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50810B7-3223-4844-971F-E57158E8512C}"/>
              </a:ext>
            </a:extLst>
          </p:cNvPr>
          <p:cNvSpPr txBox="1"/>
          <p:nvPr/>
        </p:nvSpPr>
        <p:spPr>
          <a:xfrm>
            <a:off x="4065792" y="5057423"/>
            <a:ext cx="3545243" cy="1464231"/>
          </a:xfrm>
          <a:prstGeom prst="round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srgbClr val="005BAA"/>
                </a:solidFill>
                <a:latin typeface="Arial"/>
              </a:rPr>
              <a:t>Формирование поискового отсортированного массива</a:t>
            </a:r>
            <a:endParaRPr lang="ru-RU" sz="2000" b="1" i="0" dirty="0">
              <a:solidFill>
                <a:srgbClr val="005BAA"/>
              </a:solidFill>
              <a:latin typeface="Arial"/>
            </a:endParaRPr>
          </a:p>
        </p:txBody>
      </p:sp>
      <p:sp>
        <p:nvSpPr>
          <p:cNvPr id="16" name="Стрелка: вниз 15">
            <a:extLst>
              <a:ext uri="{FF2B5EF4-FFF2-40B4-BE49-F238E27FC236}">
                <a16:creationId xmlns:a16="http://schemas.microsoft.com/office/drawing/2014/main" id="{BA13A3BB-0FEE-477B-B244-95FE456EE442}"/>
              </a:ext>
            </a:extLst>
          </p:cNvPr>
          <p:cNvSpPr/>
          <p:nvPr/>
        </p:nvSpPr>
        <p:spPr>
          <a:xfrm>
            <a:off x="5744283" y="2220803"/>
            <a:ext cx="188258" cy="259977"/>
          </a:xfrm>
          <a:prstGeom prst="downArrow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000" dirty="0">
              <a:solidFill>
                <a:schemeClr val="tx2"/>
              </a:solidFill>
            </a:endParaRPr>
          </a:p>
        </p:txBody>
      </p:sp>
      <p:sp>
        <p:nvSpPr>
          <p:cNvPr id="36" name="Стрелка: вниз 35">
            <a:extLst>
              <a:ext uri="{FF2B5EF4-FFF2-40B4-BE49-F238E27FC236}">
                <a16:creationId xmlns:a16="http://schemas.microsoft.com/office/drawing/2014/main" id="{493958D1-2707-43BA-9683-42BD0AC918FA}"/>
              </a:ext>
            </a:extLst>
          </p:cNvPr>
          <p:cNvSpPr/>
          <p:nvPr/>
        </p:nvSpPr>
        <p:spPr>
          <a:xfrm>
            <a:off x="5744283" y="3311498"/>
            <a:ext cx="188258" cy="259977"/>
          </a:xfrm>
          <a:prstGeom prst="downArrow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000" dirty="0">
              <a:solidFill>
                <a:schemeClr val="tx2"/>
              </a:solidFill>
            </a:endParaRPr>
          </a:p>
        </p:txBody>
      </p:sp>
      <p:sp>
        <p:nvSpPr>
          <p:cNvPr id="37" name="Стрелка: вниз 36">
            <a:extLst>
              <a:ext uri="{FF2B5EF4-FFF2-40B4-BE49-F238E27FC236}">
                <a16:creationId xmlns:a16="http://schemas.microsoft.com/office/drawing/2014/main" id="{0696D3EB-C5E4-4428-BC61-D16D8DB659F9}"/>
              </a:ext>
            </a:extLst>
          </p:cNvPr>
          <p:cNvSpPr/>
          <p:nvPr/>
        </p:nvSpPr>
        <p:spPr>
          <a:xfrm>
            <a:off x="5708425" y="4749227"/>
            <a:ext cx="188258" cy="259977"/>
          </a:xfrm>
          <a:prstGeom prst="downArrow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000" dirty="0">
              <a:solidFill>
                <a:schemeClr val="tx2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6ACF2A0-8C32-4CD5-91CA-6046B4F7FBA2}"/>
              </a:ext>
            </a:extLst>
          </p:cNvPr>
          <p:cNvSpPr txBox="1"/>
          <p:nvPr/>
        </p:nvSpPr>
        <p:spPr>
          <a:xfrm>
            <a:off x="8000399" y="1424241"/>
            <a:ext cx="1380565" cy="919401"/>
          </a:xfrm>
          <a:prstGeom prst="round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005BAA"/>
                </a:solidFill>
                <a:latin typeface="Arial"/>
              </a:rPr>
              <a:t>S2</a:t>
            </a:r>
            <a:r>
              <a:rPr lang="ru-RU" sz="2400" b="1" dirty="0">
                <a:solidFill>
                  <a:srgbClr val="005BAA"/>
                </a:solidFill>
                <a:latin typeface="Arial"/>
              </a:rPr>
              <a:t>-ключ</a:t>
            </a:r>
            <a:endParaRPr lang="ru-RU" sz="2400" b="1" i="0" dirty="0">
              <a:solidFill>
                <a:srgbClr val="005BAA"/>
              </a:solidFill>
              <a:latin typeface="Arial"/>
            </a:endParaRPr>
          </a:p>
        </p:txBody>
      </p:sp>
      <p:sp>
        <p:nvSpPr>
          <p:cNvPr id="17" name="Стрелка: вниз 16">
            <a:extLst>
              <a:ext uri="{FF2B5EF4-FFF2-40B4-BE49-F238E27FC236}">
                <a16:creationId xmlns:a16="http://schemas.microsoft.com/office/drawing/2014/main" id="{193D472F-8E55-46F5-8F48-C3FF7978B171}"/>
              </a:ext>
            </a:extLst>
          </p:cNvPr>
          <p:cNvSpPr/>
          <p:nvPr/>
        </p:nvSpPr>
        <p:spPr>
          <a:xfrm>
            <a:off x="8597153" y="2472609"/>
            <a:ext cx="188258" cy="259977"/>
          </a:xfrm>
          <a:prstGeom prst="downArrow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000" dirty="0">
              <a:solidFill>
                <a:schemeClr val="tx2"/>
              </a:solidFill>
            </a:endParaRPr>
          </a:p>
        </p:txBody>
      </p:sp>
      <p:sp>
        <p:nvSpPr>
          <p:cNvPr id="19" name="Стрелка: вниз 18">
            <a:extLst>
              <a:ext uri="{FF2B5EF4-FFF2-40B4-BE49-F238E27FC236}">
                <a16:creationId xmlns:a16="http://schemas.microsoft.com/office/drawing/2014/main" id="{D5789E92-5EB3-4B3F-8A21-F501DCE83A21}"/>
              </a:ext>
            </a:extLst>
          </p:cNvPr>
          <p:cNvSpPr/>
          <p:nvPr/>
        </p:nvSpPr>
        <p:spPr>
          <a:xfrm rot="10800000">
            <a:off x="10367474" y="2472609"/>
            <a:ext cx="188258" cy="272466"/>
          </a:xfrm>
          <a:prstGeom prst="downArrow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000" dirty="0">
              <a:solidFill>
                <a:schemeClr val="tx2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407D7B3-67D5-470F-B1FD-988E24DA7A85}"/>
              </a:ext>
            </a:extLst>
          </p:cNvPr>
          <p:cNvSpPr txBox="1"/>
          <p:nvPr/>
        </p:nvSpPr>
        <p:spPr>
          <a:xfrm>
            <a:off x="9770327" y="1429271"/>
            <a:ext cx="1380565" cy="900000"/>
          </a:xfrm>
          <a:prstGeom prst="round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anchor="ctr" anchorCtr="0">
            <a:spAutoFit/>
          </a:bodyPr>
          <a:lstStyle/>
          <a:p>
            <a:pPr algn="ctr"/>
            <a:r>
              <a:rPr lang="ru-RU" sz="2000" b="1" dirty="0">
                <a:solidFill>
                  <a:srgbClr val="005BAA"/>
                </a:solidFill>
                <a:latin typeface="Arial"/>
              </a:rPr>
              <a:t>Текущие зоны</a:t>
            </a:r>
            <a:endParaRPr lang="ru-RU" sz="2000" b="1" i="0" dirty="0">
              <a:solidFill>
                <a:srgbClr val="005BAA"/>
              </a:solidFill>
              <a:latin typeface="Arial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CA50A86-F231-44FD-A5D5-312FC5303A97}"/>
              </a:ext>
            </a:extLst>
          </p:cNvPr>
          <p:cNvSpPr txBox="1"/>
          <p:nvPr/>
        </p:nvSpPr>
        <p:spPr>
          <a:xfrm>
            <a:off x="7997706" y="4669871"/>
            <a:ext cx="3545243" cy="408623"/>
          </a:xfrm>
          <a:prstGeom prst="round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005BAA"/>
                </a:solidFill>
                <a:latin typeface="Arial"/>
              </a:rPr>
              <a:t>Варианты:</a:t>
            </a:r>
            <a:endParaRPr lang="ru-RU" sz="1800" b="1" i="0" dirty="0">
              <a:solidFill>
                <a:srgbClr val="005BAA"/>
              </a:solidFill>
              <a:latin typeface="Arial"/>
            </a:endParaRPr>
          </a:p>
        </p:txBody>
      </p:sp>
      <p:sp>
        <p:nvSpPr>
          <p:cNvPr id="41" name="Rounded Rectangle 18">
            <a:extLst>
              <a:ext uri="{FF2B5EF4-FFF2-40B4-BE49-F238E27FC236}">
                <a16:creationId xmlns:a16="http://schemas.microsoft.com/office/drawing/2014/main" id="{0D46227B-7162-467A-AC19-867C6D7BACB6}"/>
              </a:ext>
            </a:extLst>
          </p:cNvPr>
          <p:cNvSpPr/>
          <p:nvPr/>
        </p:nvSpPr>
        <p:spPr>
          <a:xfrm>
            <a:off x="7958920" y="5140397"/>
            <a:ext cx="3545243" cy="1309627"/>
          </a:xfrm>
          <a:prstGeom prst="roundRect">
            <a:avLst/>
          </a:prstGeom>
          <a:solidFill>
            <a:srgbClr val="E7F3FD"/>
          </a:solidFill>
          <a:ln w="1270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72D3A"/>
                </a:solidFill>
                <a:latin typeface="Arial"/>
              </a:rPr>
              <a:t>Избыточное заполнение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72D3A"/>
                </a:solidFill>
                <a:latin typeface="Arial"/>
              </a:rPr>
              <a:t>Внутреннее заполнение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72D3A"/>
                </a:solidFill>
                <a:latin typeface="Arial"/>
              </a:rPr>
              <a:t>С дополнительной геометрической проверкой</a:t>
            </a:r>
            <a:endParaRPr sz="1600" dirty="0">
              <a:solidFill>
                <a:srgbClr val="272D3A"/>
              </a:solidFill>
              <a:latin typeface="Arial"/>
            </a:endParaRPr>
          </a:p>
        </p:txBody>
      </p:sp>
      <p:pic>
        <p:nvPicPr>
          <p:cNvPr id="1030" name="Picture 6" descr="PlantUML Diagram">
            <a:extLst>
              <a:ext uri="{FF2B5EF4-FFF2-40B4-BE49-F238E27FC236}">
                <a16:creationId xmlns:a16="http://schemas.microsoft.com/office/drawing/2014/main" id="{E30FB679-8C06-45D8-AEBB-7CE5446475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8859" y="2823117"/>
            <a:ext cx="3654089" cy="1705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410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BA93BE4C-7CB2-44BE-8CC6-F6F097234861}"/>
              </a:ext>
            </a:extLst>
          </p:cNvPr>
          <p:cNvSpPr/>
          <p:nvPr/>
        </p:nvSpPr>
        <p:spPr>
          <a:xfrm>
            <a:off x="550863" y="1124559"/>
            <a:ext cx="2202970" cy="5244343"/>
          </a:xfrm>
          <a:prstGeom prst="roundRect">
            <a:avLst/>
          </a:prstGeom>
          <a:gradFill flip="none" rotWithShape="1">
            <a:gsLst>
              <a:gs pos="0">
                <a:srgbClr val="B6E4B8"/>
              </a:gs>
              <a:gs pos="75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000" dirty="0">
              <a:solidFill>
                <a:schemeClr val="tx2"/>
              </a:solidFill>
            </a:endParaRP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2B041327-A20A-4913-9407-35234401A68A}"/>
              </a:ext>
            </a:extLst>
          </p:cNvPr>
          <p:cNvSpPr/>
          <p:nvPr/>
        </p:nvSpPr>
        <p:spPr>
          <a:xfrm>
            <a:off x="2897911" y="1271582"/>
            <a:ext cx="4217956" cy="4773024"/>
          </a:xfrm>
          <a:prstGeom prst="roundRect">
            <a:avLst/>
          </a:prstGeom>
          <a:gradFill flip="none" rotWithShape="1">
            <a:gsLst>
              <a:gs pos="0">
                <a:srgbClr val="B6E4B8"/>
              </a:gs>
              <a:gs pos="75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000" dirty="0">
              <a:solidFill>
                <a:schemeClr val="tx2"/>
              </a:solidFill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F90BE0-798E-4D93-AD99-0F2A6378E114}"/>
              </a:ext>
            </a:extLst>
          </p:cNvPr>
          <p:cNvSpPr/>
          <p:nvPr/>
        </p:nvSpPr>
        <p:spPr>
          <a:xfrm>
            <a:off x="7310268" y="1271582"/>
            <a:ext cx="4215046" cy="4773024"/>
          </a:xfrm>
          <a:prstGeom prst="roundRect">
            <a:avLst/>
          </a:prstGeom>
          <a:gradFill flip="none" rotWithShape="1">
            <a:gsLst>
              <a:gs pos="0">
                <a:srgbClr val="E0F4E1"/>
              </a:gs>
              <a:gs pos="95000">
                <a:srgbClr val="DEF2FA"/>
              </a:gs>
            </a:gsLst>
            <a:lin ang="16200000" scaled="1"/>
            <a:tileRect/>
          </a:gradFill>
          <a:ln w="15875">
            <a:solidFill>
              <a:srgbClr val="005AAC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000" dirty="0">
              <a:solidFill>
                <a:schemeClr val="tx2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C950A427-2396-4452-A267-FC25A12F1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9D33000-B5B8-479E-AFEB-7BEF90C48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686" y="2957431"/>
            <a:ext cx="1962424" cy="3286584"/>
          </a:xfrm>
          <a:prstGeom prst="roundRect">
            <a:avLst/>
          </a:prstGeom>
        </p:spPr>
      </p:pic>
      <p:sp>
        <p:nvSpPr>
          <p:cNvPr id="10" name="Rounded Rectangle 18">
            <a:extLst>
              <a:ext uri="{FF2B5EF4-FFF2-40B4-BE49-F238E27FC236}">
                <a16:creationId xmlns:a16="http://schemas.microsoft.com/office/drawing/2014/main" id="{9E8A4F7A-BCB0-4632-A5EC-FD9CD035897A}"/>
              </a:ext>
            </a:extLst>
          </p:cNvPr>
          <p:cNvSpPr/>
          <p:nvPr/>
        </p:nvSpPr>
        <p:spPr>
          <a:xfrm>
            <a:off x="632435" y="1256231"/>
            <a:ext cx="1962424" cy="1630405"/>
          </a:xfrm>
          <a:prstGeom prst="roundRect">
            <a:avLst/>
          </a:prstGeom>
          <a:solidFill>
            <a:srgbClr val="E7F3FD"/>
          </a:solidFill>
          <a:ln w="1270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>
            <a:normAutofit fontScale="92500" lnSpcReduction="20000"/>
          </a:bodyPr>
          <a:lstStyle/>
          <a:p>
            <a:pPr algn="l"/>
            <a:r>
              <a:rPr lang="ru-RU" sz="1600" dirty="0">
                <a:solidFill>
                  <a:srgbClr val="272D3A"/>
                </a:solidFill>
                <a:latin typeface="Arial"/>
              </a:rPr>
              <a:t>Создана система, обеспечивающая процесс мониторинга транспортных средств</a:t>
            </a:r>
            <a:endParaRPr sz="1600" dirty="0">
              <a:solidFill>
                <a:srgbClr val="272D3A"/>
              </a:solidFill>
              <a:latin typeface="Arial"/>
            </a:endParaRPr>
          </a:p>
        </p:txBody>
      </p:sp>
      <p:sp>
        <p:nvSpPr>
          <p:cNvPr id="11" name="Rounded Rectangle 18">
            <a:extLst>
              <a:ext uri="{FF2B5EF4-FFF2-40B4-BE49-F238E27FC236}">
                <a16:creationId xmlns:a16="http://schemas.microsoft.com/office/drawing/2014/main" id="{EFA6D75D-C076-44B8-ADF6-48C564D4F61B}"/>
              </a:ext>
            </a:extLst>
          </p:cNvPr>
          <p:cNvSpPr/>
          <p:nvPr/>
        </p:nvSpPr>
        <p:spPr>
          <a:xfrm>
            <a:off x="3210049" y="1448110"/>
            <a:ext cx="3643100" cy="1039708"/>
          </a:xfrm>
          <a:prstGeom prst="roundRect">
            <a:avLst/>
          </a:prstGeom>
          <a:solidFill>
            <a:srgbClr val="E7F3FD"/>
          </a:solidFill>
          <a:ln w="1270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>
            <a:normAutofit lnSpcReduction="10000"/>
          </a:bodyPr>
          <a:lstStyle/>
          <a:p>
            <a:pPr algn="l"/>
            <a:r>
              <a:rPr lang="ru-RU" dirty="0">
                <a:solidFill>
                  <a:srgbClr val="272D3A"/>
                </a:solidFill>
                <a:latin typeface="Arial"/>
              </a:rPr>
              <a:t>Позиционное отслеживание актуальных телеметрических данных</a:t>
            </a:r>
            <a:endParaRPr dirty="0">
              <a:solidFill>
                <a:srgbClr val="272D3A"/>
              </a:solidFill>
              <a:latin typeface="Arial"/>
            </a:endParaRPr>
          </a:p>
        </p:txBody>
      </p:sp>
      <p:sp>
        <p:nvSpPr>
          <p:cNvPr id="12" name="Rounded Rectangle 18">
            <a:extLst>
              <a:ext uri="{FF2B5EF4-FFF2-40B4-BE49-F238E27FC236}">
                <a16:creationId xmlns:a16="http://schemas.microsoft.com/office/drawing/2014/main" id="{291FAA3A-BCBB-4583-B16D-E8EFE3063A3F}"/>
              </a:ext>
            </a:extLst>
          </p:cNvPr>
          <p:cNvSpPr/>
          <p:nvPr/>
        </p:nvSpPr>
        <p:spPr>
          <a:xfrm>
            <a:off x="7521993" y="1448110"/>
            <a:ext cx="3544192" cy="1039708"/>
          </a:xfrm>
          <a:prstGeom prst="roundRect">
            <a:avLst/>
          </a:prstGeom>
          <a:solidFill>
            <a:srgbClr val="E7F3FD"/>
          </a:solidFill>
          <a:ln w="1270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>
            <a:normAutofit lnSpcReduction="10000"/>
          </a:bodyPr>
          <a:lstStyle/>
          <a:p>
            <a:pPr algn="l"/>
            <a:r>
              <a:rPr lang="ru-RU" dirty="0">
                <a:solidFill>
                  <a:srgbClr val="272D3A"/>
                </a:solidFill>
                <a:latin typeface="Arial"/>
              </a:rPr>
              <a:t>Позиционное отслеживание исторических телеметрических данных</a:t>
            </a:r>
            <a:endParaRPr dirty="0">
              <a:solidFill>
                <a:srgbClr val="272D3A"/>
              </a:solidFill>
              <a:latin typeface="Arial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9FC555F-AFEA-4676-9F0F-75CCB67A0DDD}"/>
              </a:ext>
            </a:extLst>
          </p:cNvPr>
          <p:cNvPicPr/>
          <p:nvPr/>
        </p:nvPicPr>
        <p:blipFill rotWithShape="1">
          <a:blip r:embed="rId3"/>
          <a:srcRect l="26954" t="10709"/>
          <a:stretch/>
        </p:blipFill>
        <p:spPr>
          <a:xfrm>
            <a:off x="3024985" y="2687227"/>
            <a:ext cx="3963808" cy="3157970"/>
          </a:xfrm>
          <a:prstGeom prst="round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B2800F1-0197-4027-B6F4-68E4563C698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9156" t="15703" r="1"/>
          <a:stretch/>
        </p:blipFill>
        <p:spPr>
          <a:xfrm>
            <a:off x="7434467" y="2687226"/>
            <a:ext cx="3917455" cy="3157971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0802702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: скругленные противолежащие углы 15">
            <a:extLst>
              <a:ext uri="{FF2B5EF4-FFF2-40B4-BE49-F238E27FC236}">
                <a16:creationId xmlns:a16="http://schemas.microsoft.com/office/drawing/2014/main" id="{2B041327-A20A-4913-9407-35234401A68A}"/>
              </a:ext>
            </a:extLst>
          </p:cNvPr>
          <p:cNvSpPr/>
          <p:nvPr/>
        </p:nvSpPr>
        <p:spPr>
          <a:xfrm>
            <a:off x="417443" y="1035421"/>
            <a:ext cx="11430000" cy="5633736"/>
          </a:xfrm>
          <a:prstGeom prst="round2DiagRect">
            <a:avLst/>
          </a:prstGeom>
          <a:gradFill flip="none" rotWithShape="1">
            <a:gsLst>
              <a:gs pos="0">
                <a:srgbClr val="B6E4B8"/>
              </a:gs>
              <a:gs pos="75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000" dirty="0">
              <a:solidFill>
                <a:schemeClr val="tx2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C950A427-2396-4452-A267-FC25A12F1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A72AFB1-5797-4602-8492-C4058267F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63" y="3622397"/>
            <a:ext cx="6139486" cy="2964853"/>
          </a:xfrm>
          <a:prstGeom prst="round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011AC4F-65E5-438D-8341-0BE331B63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5122" y="1089239"/>
            <a:ext cx="6259435" cy="2479340"/>
          </a:xfrm>
          <a:prstGeom prst="roundRect">
            <a:avLst/>
          </a:prstGeom>
        </p:spPr>
      </p:pic>
      <p:sp>
        <p:nvSpPr>
          <p:cNvPr id="11" name="Rounded Rectangle 18">
            <a:extLst>
              <a:ext uri="{FF2B5EF4-FFF2-40B4-BE49-F238E27FC236}">
                <a16:creationId xmlns:a16="http://schemas.microsoft.com/office/drawing/2014/main" id="{EFA6D75D-C076-44B8-ADF6-48C564D4F61B}"/>
              </a:ext>
            </a:extLst>
          </p:cNvPr>
          <p:cNvSpPr/>
          <p:nvPr/>
        </p:nvSpPr>
        <p:spPr>
          <a:xfrm>
            <a:off x="6962917" y="4526609"/>
            <a:ext cx="4129153" cy="1156428"/>
          </a:xfrm>
          <a:prstGeom prst="roundRect">
            <a:avLst/>
          </a:prstGeom>
          <a:solidFill>
            <a:srgbClr val="E7F3FD"/>
          </a:solidFill>
          <a:ln w="1270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>
            <a:normAutofit/>
          </a:bodyPr>
          <a:lstStyle/>
          <a:p>
            <a:pPr algn="l"/>
            <a:r>
              <a:rPr lang="ru-RU" dirty="0">
                <a:solidFill>
                  <a:srgbClr val="272D3A"/>
                </a:solidFill>
                <a:latin typeface="Arial"/>
              </a:rPr>
              <a:t>Пространственно-временной поиск исторических телеметрических данных</a:t>
            </a:r>
            <a:endParaRPr dirty="0">
              <a:solidFill>
                <a:srgbClr val="272D3A"/>
              </a:solidFill>
              <a:latin typeface="Arial"/>
            </a:endParaRPr>
          </a:p>
        </p:txBody>
      </p:sp>
      <p:sp>
        <p:nvSpPr>
          <p:cNvPr id="12" name="Rounded Rectangle 18">
            <a:extLst>
              <a:ext uri="{FF2B5EF4-FFF2-40B4-BE49-F238E27FC236}">
                <a16:creationId xmlns:a16="http://schemas.microsoft.com/office/drawing/2014/main" id="{291FAA3A-BCBB-4583-B16D-E8EFE3063A3F}"/>
              </a:ext>
            </a:extLst>
          </p:cNvPr>
          <p:cNvSpPr/>
          <p:nvPr/>
        </p:nvSpPr>
        <p:spPr>
          <a:xfrm>
            <a:off x="894522" y="1679914"/>
            <a:ext cx="4422913" cy="1152738"/>
          </a:xfrm>
          <a:prstGeom prst="roundRect">
            <a:avLst/>
          </a:prstGeom>
          <a:solidFill>
            <a:srgbClr val="E7F3FD"/>
          </a:solidFill>
          <a:ln w="1270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>
            <a:normAutofit/>
          </a:bodyPr>
          <a:lstStyle/>
          <a:p>
            <a:pPr algn="l"/>
            <a:r>
              <a:rPr lang="ru-RU" dirty="0">
                <a:solidFill>
                  <a:srgbClr val="272D3A"/>
                </a:solidFill>
                <a:latin typeface="Arial"/>
              </a:rPr>
              <a:t>Генерация событий зонального отслеживания с минимальной задержкой</a:t>
            </a:r>
            <a:endParaRPr dirty="0">
              <a:solidFill>
                <a:srgbClr val="272D3A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57779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C950A427-2396-4452-A267-FC25A12F1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Тестирование</a:t>
            </a: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F9AD8ACB-233B-4F5D-A462-B4EBD93012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8486620"/>
              </p:ext>
            </p:extLst>
          </p:nvPr>
        </p:nvGraphicFramePr>
        <p:xfrm>
          <a:off x="3556932" y="1224793"/>
          <a:ext cx="8084205" cy="50333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5083">
                  <a:extLst>
                    <a:ext uri="{9D8B030D-6E8A-4147-A177-3AD203B41FA5}">
                      <a16:colId xmlns:a16="http://schemas.microsoft.com/office/drawing/2014/main" val="1796730915"/>
                    </a:ext>
                  </a:extLst>
                </a:gridCol>
                <a:gridCol w="5909122">
                  <a:extLst>
                    <a:ext uri="{9D8B030D-6E8A-4147-A177-3AD203B41FA5}">
                      <a16:colId xmlns:a16="http://schemas.microsoft.com/office/drawing/2014/main" val="3988056901"/>
                    </a:ext>
                  </a:extLst>
                </a:gridCol>
              </a:tblGrid>
              <a:tr h="74613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800" b="1" dirty="0">
                          <a:solidFill>
                            <a:srgbClr val="FFFFFF"/>
                          </a:solidFill>
                          <a:latin typeface="Arial"/>
                        </a:rPr>
                        <a:t>Вид тестирования</a:t>
                      </a:r>
                      <a:endParaRPr sz="18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41148" marR="41148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BA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800" b="1" dirty="0">
                          <a:solidFill>
                            <a:srgbClr val="FFFFFF"/>
                          </a:solidFill>
                          <a:latin typeface="Arial"/>
                        </a:rPr>
                        <a:t>Результаты</a:t>
                      </a:r>
                      <a:endParaRPr sz="18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41148" marR="41148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B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7529636"/>
                  </a:ext>
                </a:extLst>
              </a:tr>
              <a:tr h="121348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72D3A"/>
                          </a:solidFill>
                          <a:latin typeface="Arial"/>
                        </a:rPr>
                        <a:t>Автоматизированные модульные тесты</a:t>
                      </a:r>
                      <a:endParaRPr sz="1600" b="0" dirty="0">
                        <a:solidFill>
                          <a:srgbClr val="272D3A"/>
                        </a:solidFill>
                        <a:latin typeface="Arial"/>
                      </a:endParaRPr>
                    </a:p>
                  </a:txBody>
                  <a:tcPr marL="41148" marR="41148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72D3A"/>
                          </a:solidFill>
                          <a:latin typeface="Arial"/>
                        </a:rPr>
                        <a:t>Достигнуто покрытие тестами на уровне 90% (строки)</a:t>
                      </a:r>
                      <a:br>
                        <a:rPr lang="en-US" sz="1600" b="0" dirty="0">
                          <a:solidFill>
                            <a:srgbClr val="272D3A"/>
                          </a:solidFill>
                          <a:latin typeface="Arial"/>
                        </a:rPr>
                      </a:br>
                      <a:r>
                        <a:rPr lang="ru-RU" sz="1600" b="0" dirty="0">
                          <a:solidFill>
                            <a:srgbClr val="272D3A"/>
                          </a:solidFill>
                          <a:latin typeface="Arial"/>
                        </a:rPr>
                        <a:t>Запуск тестов производится при выполнении автоматизированного развертывания</a:t>
                      </a:r>
                      <a:endParaRPr sz="1600" b="0" dirty="0">
                        <a:solidFill>
                          <a:srgbClr val="272D3A"/>
                        </a:solidFill>
                        <a:latin typeface="Arial"/>
                      </a:endParaRPr>
                    </a:p>
                  </a:txBody>
                  <a:tcPr marL="41148" marR="41148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2660316"/>
                  </a:ext>
                </a:extLst>
              </a:tr>
              <a:tr h="124062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72D3A"/>
                          </a:solidFill>
                          <a:latin typeface="Arial"/>
                        </a:rPr>
                        <a:t>Ручное интеграционное функциональное тестирование</a:t>
                      </a:r>
                      <a:endParaRPr sz="1600" b="0" dirty="0">
                        <a:solidFill>
                          <a:srgbClr val="272D3A"/>
                        </a:solidFill>
                        <a:latin typeface="Arial"/>
                      </a:endParaRPr>
                    </a:p>
                  </a:txBody>
                  <a:tcPr marL="41148" marR="41148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72D3A"/>
                          </a:solidFill>
                          <a:latin typeface="Arial"/>
                        </a:rPr>
                        <a:t>Проведено тестирование всех функций системы, задействованы все модули</a:t>
                      </a:r>
                      <a:endParaRPr sz="1600" b="0" dirty="0">
                        <a:solidFill>
                          <a:srgbClr val="272D3A"/>
                        </a:solidFill>
                        <a:latin typeface="Arial"/>
                      </a:endParaRPr>
                    </a:p>
                  </a:txBody>
                  <a:tcPr marL="41148" marR="41148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9177576"/>
                  </a:ext>
                </a:extLst>
              </a:tr>
              <a:tr h="183315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72D3A"/>
                          </a:solidFill>
                          <a:latin typeface="Arial"/>
                        </a:rPr>
                        <a:t>Нагрузочное тестирование</a:t>
                      </a:r>
                      <a:endParaRPr sz="1600" b="0" dirty="0">
                        <a:solidFill>
                          <a:srgbClr val="272D3A"/>
                        </a:solidFill>
                        <a:latin typeface="Arial"/>
                      </a:endParaRPr>
                    </a:p>
                  </a:txBody>
                  <a:tcPr marL="41148" marR="41148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ru-RU" sz="1600" b="0" dirty="0">
                          <a:solidFill>
                            <a:srgbClr val="272D3A"/>
                          </a:solidFill>
                          <a:latin typeface="Arial"/>
                        </a:rPr>
                        <a:t>Смоделирован тестовый блок телеметрических данных и передан на вход каждого из модулей</a:t>
                      </a:r>
                    </a:p>
                    <a:p>
                      <a:pPr marL="342900" indent="-342900" algn="l">
                        <a:spcAft>
                          <a:spcPts val="0"/>
                        </a:spcAft>
                        <a:buAutoNum type="arabicPeriod"/>
                      </a:pPr>
                      <a:endParaRPr lang="ru-RU" sz="1600" b="0" dirty="0">
                        <a:solidFill>
                          <a:srgbClr val="272D3A"/>
                        </a:solidFill>
                        <a:latin typeface="Arial"/>
                      </a:endParaRPr>
                    </a:p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lang="ru-RU" sz="1600" b="0" dirty="0">
                          <a:solidFill>
                            <a:srgbClr val="272D3A"/>
                          </a:solidFill>
                          <a:latin typeface="Arial"/>
                        </a:rPr>
                        <a:t>Средняя производительность системы оценена на уровне </a:t>
                      </a:r>
                      <a:r>
                        <a:rPr lang="en-US" sz="1600" b="0" dirty="0">
                          <a:solidFill>
                            <a:srgbClr val="272D3A"/>
                          </a:solidFill>
                          <a:latin typeface="Arial"/>
                        </a:rPr>
                        <a:t>6000</a:t>
                      </a:r>
                      <a:r>
                        <a:rPr lang="ru-RU" sz="1600" b="0" dirty="0">
                          <a:solidFill>
                            <a:srgbClr val="272D3A"/>
                          </a:solidFill>
                          <a:latin typeface="Arial"/>
                        </a:rPr>
                        <a:t> сообщений в секунду, модуля сохранения телеметрии – 3100 сообщений в секунду</a:t>
                      </a:r>
                      <a:endParaRPr sz="1600" b="0" dirty="0">
                        <a:solidFill>
                          <a:srgbClr val="272D3A"/>
                        </a:solidFill>
                        <a:latin typeface="Arial"/>
                      </a:endParaRPr>
                    </a:p>
                  </a:txBody>
                  <a:tcPr marL="41148" marR="41148" marT="22860" marB="228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792187"/>
                  </a:ext>
                </a:extLst>
              </a:tr>
            </a:tbl>
          </a:graphicData>
        </a:graphic>
      </p:graphicFrame>
      <p:sp>
        <p:nvSpPr>
          <p:cNvPr id="6" name="Rounded Rectangle 18">
            <a:extLst>
              <a:ext uri="{FF2B5EF4-FFF2-40B4-BE49-F238E27FC236}">
                <a16:creationId xmlns:a16="http://schemas.microsoft.com/office/drawing/2014/main" id="{6CE8517B-FD08-437D-B991-A6036F30A7D0}"/>
              </a:ext>
            </a:extLst>
          </p:cNvPr>
          <p:cNvSpPr/>
          <p:nvPr/>
        </p:nvSpPr>
        <p:spPr>
          <a:xfrm>
            <a:off x="550863" y="1403865"/>
            <a:ext cx="2487283" cy="1515036"/>
          </a:xfrm>
          <a:prstGeom prst="roundRect">
            <a:avLst/>
          </a:prstGeom>
          <a:solidFill>
            <a:srgbClr val="E7F3FD"/>
          </a:solidFill>
          <a:ln w="1270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>
            <a:normAutofit fontScale="92500" lnSpcReduction="10000"/>
          </a:bodyPr>
          <a:lstStyle/>
          <a:p>
            <a:pPr algn="l"/>
            <a:r>
              <a:rPr lang="ru-RU" dirty="0">
                <a:solidFill>
                  <a:srgbClr val="272D3A"/>
                </a:solidFill>
                <a:latin typeface="Arial"/>
              </a:rPr>
              <a:t>Установлено, что программный продукт соответствует требованиям</a:t>
            </a:r>
            <a:endParaRPr dirty="0">
              <a:solidFill>
                <a:srgbClr val="272D3A"/>
              </a:solidFill>
              <a:latin typeface="Arial"/>
            </a:endParaRPr>
          </a:p>
        </p:txBody>
      </p:sp>
      <p:sp>
        <p:nvSpPr>
          <p:cNvPr id="8" name="Rounded Rectangle 18">
            <a:extLst>
              <a:ext uri="{FF2B5EF4-FFF2-40B4-BE49-F238E27FC236}">
                <a16:creationId xmlns:a16="http://schemas.microsoft.com/office/drawing/2014/main" id="{266E875C-B5FE-46B2-BCB5-88B6A01A9820}"/>
              </a:ext>
            </a:extLst>
          </p:cNvPr>
          <p:cNvSpPr/>
          <p:nvPr/>
        </p:nvSpPr>
        <p:spPr>
          <a:xfrm>
            <a:off x="550863" y="4383539"/>
            <a:ext cx="2487283" cy="1515036"/>
          </a:xfrm>
          <a:prstGeom prst="roundRect">
            <a:avLst/>
          </a:prstGeom>
          <a:solidFill>
            <a:srgbClr val="E7F3FD"/>
          </a:solidFill>
          <a:ln w="1270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>
            <a:normAutofit/>
          </a:bodyPr>
          <a:lstStyle/>
          <a:p>
            <a:pPr algn="l"/>
            <a:r>
              <a:rPr lang="ru-RU" dirty="0">
                <a:solidFill>
                  <a:srgbClr val="272D3A"/>
                </a:solidFill>
                <a:latin typeface="Arial"/>
              </a:rPr>
              <a:t>Узкое место: прием и сохранение телеметрических данных</a:t>
            </a:r>
            <a:endParaRPr dirty="0">
              <a:solidFill>
                <a:srgbClr val="272D3A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577797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C950A427-2396-4452-A267-FC25A12F1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04F466-5A37-4C58-87B0-E9FCEA41EBC0}"/>
              </a:ext>
            </a:extLst>
          </p:cNvPr>
          <p:cNvSpPr txBox="1"/>
          <p:nvPr/>
        </p:nvSpPr>
        <p:spPr>
          <a:xfrm>
            <a:off x="520550" y="1214180"/>
            <a:ext cx="4392110" cy="408623"/>
          </a:xfrm>
          <a:prstGeom prst="round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ru-RU" sz="1800" b="1" i="0" dirty="0">
                <a:solidFill>
                  <a:srgbClr val="005BAA"/>
                </a:solidFill>
                <a:latin typeface="Arial"/>
              </a:rPr>
              <a:t>В ходе работы выполнены этапы</a:t>
            </a:r>
          </a:p>
        </p:txBody>
      </p:sp>
      <p:sp>
        <p:nvSpPr>
          <p:cNvPr id="5" name="Rounded Rectangle 18">
            <a:extLst>
              <a:ext uri="{FF2B5EF4-FFF2-40B4-BE49-F238E27FC236}">
                <a16:creationId xmlns:a16="http://schemas.microsoft.com/office/drawing/2014/main" id="{8F9F4DA8-333C-4DDC-8B1A-44131E8F2525}"/>
              </a:ext>
            </a:extLst>
          </p:cNvPr>
          <p:cNvSpPr/>
          <p:nvPr/>
        </p:nvSpPr>
        <p:spPr>
          <a:xfrm>
            <a:off x="1255660" y="1838937"/>
            <a:ext cx="1371003" cy="859439"/>
          </a:xfrm>
          <a:prstGeom prst="roundRect">
            <a:avLst/>
          </a:prstGeom>
          <a:solidFill>
            <a:srgbClr val="E7F3FD"/>
          </a:solidFill>
          <a:ln w="1270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>
            <a:normAutofit lnSpcReduction="10000"/>
          </a:bodyPr>
          <a:lstStyle/>
          <a:p>
            <a:pPr algn="ctr"/>
            <a:r>
              <a:rPr lang="ru-RU" sz="1400" dirty="0">
                <a:solidFill>
                  <a:srgbClr val="272D3A"/>
                </a:solidFill>
                <a:latin typeface="Arial"/>
              </a:rPr>
              <a:t>Анализ предметной области</a:t>
            </a:r>
            <a:endParaRPr sz="1400" dirty="0">
              <a:solidFill>
                <a:srgbClr val="272D3A"/>
              </a:solidFill>
              <a:latin typeface="Arial"/>
            </a:endParaRPr>
          </a:p>
        </p:txBody>
      </p:sp>
      <p:sp>
        <p:nvSpPr>
          <p:cNvPr id="6" name="Rounded Rectangle 18">
            <a:extLst>
              <a:ext uri="{FF2B5EF4-FFF2-40B4-BE49-F238E27FC236}">
                <a16:creationId xmlns:a16="http://schemas.microsoft.com/office/drawing/2014/main" id="{94A85E6C-31B0-482F-BEDF-8A5C432796AE}"/>
              </a:ext>
            </a:extLst>
          </p:cNvPr>
          <p:cNvSpPr/>
          <p:nvPr/>
        </p:nvSpPr>
        <p:spPr>
          <a:xfrm>
            <a:off x="2887236" y="1829967"/>
            <a:ext cx="1371003" cy="859439"/>
          </a:xfrm>
          <a:prstGeom prst="roundRect">
            <a:avLst/>
          </a:prstGeom>
          <a:solidFill>
            <a:srgbClr val="E7F3FD"/>
          </a:solidFill>
          <a:ln w="1270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>
            <a:normAutofit lnSpcReduction="10000"/>
          </a:bodyPr>
          <a:lstStyle/>
          <a:p>
            <a:pPr algn="ctr"/>
            <a:r>
              <a:rPr lang="ru-RU" sz="1400" dirty="0">
                <a:solidFill>
                  <a:srgbClr val="272D3A"/>
                </a:solidFill>
                <a:latin typeface="Arial"/>
              </a:rPr>
              <a:t>Анализ требований к ПП</a:t>
            </a:r>
            <a:endParaRPr sz="1400" dirty="0">
              <a:solidFill>
                <a:srgbClr val="272D3A"/>
              </a:solidFill>
              <a:latin typeface="Arial"/>
            </a:endParaRPr>
          </a:p>
        </p:txBody>
      </p:sp>
      <p:sp>
        <p:nvSpPr>
          <p:cNvPr id="8" name="Rounded Rectangle 18">
            <a:extLst>
              <a:ext uri="{FF2B5EF4-FFF2-40B4-BE49-F238E27FC236}">
                <a16:creationId xmlns:a16="http://schemas.microsoft.com/office/drawing/2014/main" id="{1E907D65-AB0D-4A89-9801-32C897A9BD98}"/>
              </a:ext>
            </a:extLst>
          </p:cNvPr>
          <p:cNvSpPr/>
          <p:nvPr/>
        </p:nvSpPr>
        <p:spPr>
          <a:xfrm>
            <a:off x="4518812" y="1838937"/>
            <a:ext cx="1371003" cy="859439"/>
          </a:xfrm>
          <a:prstGeom prst="roundRect">
            <a:avLst/>
          </a:prstGeom>
          <a:solidFill>
            <a:srgbClr val="E7F3FD"/>
          </a:solidFill>
          <a:ln w="1270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>
            <a:normAutofit lnSpcReduction="10000"/>
          </a:bodyPr>
          <a:lstStyle/>
          <a:p>
            <a:pPr algn="ctr"/>
            <a:r>
              <a:rPr lang="ru-RU" sz="1400" dirty="0">
                <a:solidFill>
                  <a:srgbClr val="272D3A"/>
                </a:solidFill>
                <a:latin typeface="Arial"/>
              </a:rPr>
              <a:t>Поиск методов решения</a:t>
            </a:r>
            <a:endParaRPr sz="1400" dirty="0">
              <a:solidFill>
                <a:srgbClr val="272D3A"/>
              </a:solidFill>
              <a:latin typeface="Arial"/>
            </a:endParaRPr>
          </a:p>
        </p:txBody>
      </p:sp>
      <p:sp>
        <p:nvSpPr>
          <p:cNvPr id="9" name="Rounded Rectangle 18">
            <a:extLst>
              <a:ext uri="{FF2B5EF4-FFF2-40B4-BE49-F238E27FC236}">
                <a16:creationId xmlns:a16="http://schemas.microsoft.com/office/drawing/2014/main" id="{80B00CB9-4C13-45CA-962A-3B9E24108960}"/>
              </a:ext>
            </a:extLst>
          </p:cNvPr>
          <p:cNvSpPr/>
          <p:nvPr/>
        </p:nvSpPr>
        <p:spPr>
          <a:xfrm>
            <a:off x="6150388" y="1829966"/>
            <a:ext cx="1371003" cy="859439"/>
          </a:xfrm>
          <a:prstGeom prst="roundRect">
            <a:avLst/>
          </a:prstGeom>
          <a:solidFill>
            <a:srgbClr val="E7F3FD"/>
          </a:solidFill>
          <a:ln w="1270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>
            <a:normAutofit/>
          </a:bodyPr>
          <a:lstStyle/>
          <a:p>
            <a:pPr algn="ctr"/>
            <a:r>
              <a:rPr lang="ru-RU" sz="1400" dirty="0">
                <a:solidFill>
                  <a:srgbClr val="272D3A"/>
                </a:solidFill>
                <a:latin typeface="Arial"/>
              </a:rPr>
              <a:t>Реализация</a:t>
            </a:r>
            <a:endParaRPr sz="1400" dirty="0">
              <a:solidFill>
                <a:srgbClr val="272D3A"/>
              </a:solidFill>
              <a:latin typeface="Arial"/>
            </a:endParaRPr>
          </a:p>
        </p:txBody>
      </p:sp>
      <p:sp>
        <p:nvSpPr>
          <p:cNvPr id="10" name="Rounded Rectangle 18">
            <a:extLst>
              <a:ext uri="{FF2B5EF4-FFF2-40B4-BE49-F238E27FC236}">
                <a16:creationId xmlns:a16="http://schemas.microsoft.com/office/drawing/2014/main" id="{831F63E4-B32D-42F2-BC37-31FA9782B58A}"/>
              </a:ext>
            </a:extLst>
          </p:cNvPr>
          <p:cNvSpPr/>
          <p:nvPr/>
        </p:nvSpPr>
        <p:spPr>
          <a:xfrm>
            <a:off x="7781964" y="1838937"/>
            <a:ext cx="1371003" cy="859439"/>
          </a:xfrm>
          <a:prstGeom prst="roundRect">
            <a:avLst/>
          </a:prstGeom>
          <a:solidFill>
            <a:srgbClr val="E7F3FD"/>
          </a:solidFill>
          <a:ln w="1270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>
            <a:normAutofit/>
          </a:bodyPr>
          <a:lstStyle/>
          <a:p>
            <a:pPr algn="ctr"/>
            <a:r>
              <a:rPr lang="ru-RU" sz="1200" dirty="0">
                <a:solidFill>
                  <a:srgbClr val="272D3A"/>
                </a:solidFill>
                <a:latin typeface="Arial"/>
              </a:rPr>
              <a:t>Тестирование</a:t>
            </a:r>
            <a:endParaRPr sz="1200" dirty="0">
              <a:solidFill>
                <a:srgbClr val="272D3A"/>
              </a:solidFill>
              <a:latin typeface="Arial"/>
            </a:endParaRPr>
          </a:p>
        </p:txBody>
      </p:sp>
      <p:sp>
        <p:nvSpPr>
          <p:cNvPr id="11" name="Rounded Rectangle 18">
            <a:extLst>
              <a:ext uri="{FF2B5EF4-FFF2-40B4-BE49-F238E27FC236}">
                <a16:creationId xmlns:a16="http://schemas.microsoft.com/office/drawing/2014/main" id="{D0665EE1-401A-4346-9897-19704F3697F9}"/>
              </a:ext>
            </a:extLst>
          </p:cNvPr>
          <p:cNvSpPr/>
          <p:nvPr/>
        </p:nvSpPr>
        <p:spPr>
          <a:xfrm>
            <a:off x="9413540" y="1847901"/>
            <a:ext cx="1371003" cy="859439"/>
          </a:xfrm>
          <a:prstGeom prst="roundRect">
            <a:avLst/>
          </a:prstGeom>
          <a:solidFill>
            <a:srgbClr val="E7F3FD"/>
          </a:solidFill>
          <a:ln w="1270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>
            <a:normAutofit/>
          </a:bodyPr>
          <a:lstStyle/>
          <a:p>
            <a:pPr algn="ctr"/>
            <a:r>
              <a:rPr lang="ru-RU" sz="1200" dirty="0">
                <a:solidFill>
                  <a:srgbClr val="272D3A"/>
                </a:solidFill>
                <a:latin typeface="Arial"/>
              </a:rPr>
              <a:t>Ввод в эксплуатацию</a:t>
            </a:r>
            <a:endParaRPr sz="1200" dirty="0">
              <a:solidFill>
                <a:srgbClr val="272D3A"/>
              </a:solidFill>
              <a:latin typeface="Arial"/>
            </a:endParaRPr>
          </a:p>
        </p:txBody>
      </p:sp>
      <p:sp>
        <p:nvSpPr>
          <p:cNvPr id="2" name="Стрелка: вправо 1">
            <a:extLst>
              <a:ext uri="{FF2B5EF4-FFF2-40B4-BE49-F238E27FC236}">
                <a16:creationId xmlns:a16="http://schemas.microsoft.com/office/drawing/2014/main" id="{7DB38DD1-E8A3-4569-80A8-435CF00AE444}"/>
              </a:ext>
            </a:extLst>
          </p:cNvPr>
          <p:cNvSpPr/>
          <p:nvPr/>
        </p:nvSpPr>
        <p:spPr>
          <a:xfrm>
            <a:off x="2671787" y="2187973"/>
            <a:ext cx="170325" cy="179294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000" dirty="0">
              <a:solidFill>
                <a:schemeClr val="tx2"/>
              </a:solidFill>
            </a:endParaRPr>
          </a:p>
        </p:txBody>
      </p:sp>
      <p:sp>
        <p:nvSpPr>
          <p:cNvPr id="14" name="Стрелка: вправо 13">
            <a:extLst>
              <a:ext uri="{FF2B5EF4-FFF2-40B4-BE49-F238E27FC236}">
                <a16:creationId xmlns:a16="http://schemas.microsoft.com/office/drawing/2014/main" id="{7EBF72DB-AFE9-4BBF-82F3-6C6AD1D5D94A}"/>
              </a:ext>
            </a:extLst>
          </p:cNvPr>
          <p:cNvSpPr/>
          <p:nvPr/>
        </p:nvSpPr>
        <p:spPr>
          <a:xfrm>
            <a:off x="4303363" y="2161079"/>
            <a:ext cx="170325" cy="179294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000" dirty="0">
              <a:solidFill>
                <a:schemeClr val="tx2"/>
              </a:solidFill>
            </a:endParaRPr>
          </a:p>
        </p:txBody>
      </p:sp>
      <p:sp>
        <p:nvSpPr>
          <p:cNvPr id="15" name="Стрелка: вправо 14">
            <a:extLst>
              <a:ext uri="{FF2B5EF4-FFF2-40B4-BE49-F238E27FC236}">
                <a16:creationId xmlns:a16="http://schemas.microsoft.com/office/drawing/2014/main" id="{BD325606-5ECB-4E41-A4C0-96F1BAE54F28}"/>
              </a:ext>
            </a:extLst>
          </p:cNvPr>
          <p:cNvSpPr/>
          <p:nvPr/>
        </p:nvSpPr>
        <p:spPr>
          <a:xfrm>
            <a:off x="5934939" y="2170038"/>
            <a:ext cx="170325" cy="179294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000" dirty="0">
              <a:solidFill>
                <a:schemeClr val="tx2"/>
              </a:solidFill>
            </a:endParaRPr>
          </a:p>
        </p:txBody>
      </p:sp>
      <p:sp>
        <p:nvSpPr>
          <p:cNvPr id="16" name="Стрелка: вправо 15">
            <a:extLst>
              <a:ext uri="{FF2B5EF4-FFF2-40B4-BE49-F238E27FC236}">
                <a16:creationId xmlns:a16="http://schemas.microsoft.com/office/drawing/2014/main" id="{0B131705-ABA6-432B-A29D-739D564E686E}"/>
              </a:ext>
            </a:extLst>
          </p:cNvPr>
          <p:cNvSpPr/>
          <p:nvPr/>
        </p:nvSpPr>
        <p:spPr>
          <a:xfrm>
            <a:off x="7566515" y="2187973"/>
            <a:ext cx="170325" cy="179294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000" dirty="0">
              <a:solidFill>
                <a:schemeClr val="tx2"/>
              </a:solidFill>
            </a:endParaRPr>
          </a:p>
        </p:txBody>
      </p:sp>
      <p:sp>
        <p:nvSpPr>
          <p:cNvPr id="17" name="Стрелка: вправо 16">
            <a:extLst>
              <a:ext uri="{FF2B5EF4-FFF2-40B4-BE49-F238E27FC236}">
                <a16:creationId xmlns:a16="http://schemas.microsoft.com/office/drawing/2014/main" id="{0DD76A16-421C-4F9D-A911-FBD1B7AF0C8B}"/>
              </a:ext>
            </a:extLst>
          </p:cNvPr>
          <p:cNvSpPr/>
          <p:nvPr/>
        </p:nvSpPr>
        <p:spPr>
          <a:xfrm>
            <a:off x="9198091" y="2179009"/>
            <a:ext cx="170325" cy="179294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000" dirty="0">
              <a:solidFill>
                <a:schemeClr val="tx2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60F20D-7D3A-4ECB-923E-B5C1694FCE5D}"/>
              </a:ext>
            </a:extLst>
          </p:cNvPr>
          <p:cNvSpPr txBox="1"/>
          <p:nvPr/>
        </p:nvSpPr>
        <p:spPr>
          <a:xfrm>
            <a:off x="475732" y="2932437"/>
            <a:ext cx="4392110" cy="408623"/>
          </a:xfrm>
          <a:prstGeom prst="round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005BAA"/>
                </a:solidFill>
                <a:latin typeface="Arial"/>
              </a:rPr>
              <a:t>Основные результаты работы</a:t>
            </a:r>
            <a:endParaRPr lang="ru-RU" sz="1800" b="1" i="0" dirty="0">
              <a:solidFill>
                <a:srgbClr val="005BAA"/>
              </a:solidFill>
              <a:latin typeface="Arial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2178640-5984-45B0-AD30-1AE4F285DC54}"/>
              </a:ext>
            </a:extLst>
          </p:cNvPr>
          <p:cNvSpPr/>
          <p:nvPr/>
        </p:nvSpPr>
        <p:spPr>
          <a:xfrm>
            <a:off x="4437828" y="3439035"/>
            <a:ext cx="3889785" cy="416183"/>
          </a:xfrm>
          <a:prstGeom prst="roundRect">
            <a:avLst/>
          </a:prstGeom>
          <a:solidFill>
            <a:srgbClr val="E7F3FD"/>
          </a:solidFill>
          <a:ln w="1270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>
            <a:normAutofit fontScale="92500" lnSpcReduction="10000"/>
          </a:bodyPr>
          <a:lstStyle/>
          <a:p>
            <a:pPr algn="ctr"/>
            <a:r>
              <a:rPr lang="ru-RU" sz="1600" dirty="0">
                <a:solidFill>
                  <a:srgbClr val="272D3A"/>
                </a:solidFill>
                <a:latin typeface="Arial"/>
              </a:rPr>
              <a:t>Система позиционного отслеживания</a:t>
            </a:r>
            <a:endParaRPr sz="1600" dirty="0">
              <a:solidFill>
                <a:srgbClr val="272D3A"/>
              </a:solidFill>
              <a:latin typeface="Arial"/>
            </a:endParaRPr>
          </a:p>
        </p:txBody>
      </p:sp>
      <p:sp>
        <p:nvSpPr>
          <p:cNvPr id="20" name="Rounded Rectangle 18">
            <a:extLst>
              <a:ext uri="{FF2B5EF4-FFF2-40B4-BE49-F238E27FC236}">
                <a16:creationId xmlns:a16="http://schemas.microsoft.com/office/drawing/2014/main" id="{58082363-FF3C-4580-874B-57706D22C3B6}"/>
              </a:ext>
            </a:extLst>
          </p:cNvPr>
          <p:cNvSpPr/>
          <p:nvPr/>
        </p:nvSpPr>
        <p:spPr>
          <a:xfrm>
            <a:off x="905435" y="4090689"/>
            <a:ext cx="1963271" cy="859439"/>
          </a:xfrm>
          <a:prstGeom prst="roundRect">
            <a:avLst/>
          </a:prstGeom>
          <a:solidFill>
            <a:srgbClr val="E7F3FD"/>
          </a:solidFill>
          <a:ln w="1270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>
            <a:normAutofit fontScale="92500"/>
          </a:bodyPr>
          <a:lstStyle/>
          <a:p>
            <a:pPr algn="ctr"/>
            <a:r>
              <a:rPr lang="ru-RU" sz="1400" dirty="0">
                <a:solidFill>
                  <a:srgbClr val="272D3A"/>
                </a:solidFill>
              </a:rPr>
              <a:t>Прием и сохранение телеметрических данных</a:t>
            </a:r>
            <a:endParaRPr sz="1400" dirty="0">
              <a:solidFill>
                <a:srgbClr val="272D3A"/>
              </a:solidFill>
              <a:latin typeface="Arial"/>
            </a:endParaRPr>
          </a:p>
        </p:txBody>
      </p:sp>
      <p:sp>
        <p:nvSpPr>
          <p:cNvPr id="21" name="Rounded Rectangle 18">
            <a:extLst>
              <a:ext uri="{FF2B5EF4-FFF2-40B4-BE49-F238E27FC236}">
                <a16:creationId xmlns:a16="http://schemas.microsoft.com/office/drawing/2014/main" id="{3DFF027B-0766-4041-99C7-C9367BD1A80B}"/>
              </a:ext>
            </a:extLst>
          </p:cNvPr>
          <p:cNvSpPr/>
          <p:nvPr/>
        </p:nvSpPr>
        <p:spPr>
          <a:xfrm>
            <a:off x="3299913" y="4090690"/>
            <a:ext cx="1765446" cy="859439"/>
          </a:xfrm>
          <a:prstGeom prst="roundRect">
            <a:avLst/>
          </a:prstGeom>
          <a:solidFill>
            <a:srgbClr val="E7F3FD"/>
          </a:solidFill>
          <a:ln w="1270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>
            <a:normAutofit lnSpcReduction="10000"/>
          </a:bodyPr>
          <a:lstStyle/>
          <a:p>
            <a:pPr algn="ctr"/>
            <a:r>
              <a:rPr lang="ru-RU" sz="1400" dirty="0">
                <a:solidFill>
                  <a:srgbClr val="272D3A"/>
                </a:solidFill>
              </a:rPr>
              <a:t>Просмотр актуальной телеметрии</a:t>
            </a:r>
            <a:endParaRPr sz="1400" dirty="0">
              <a:solidFill>
                <a:srgbClr val="272D3A"/>
              </a:solidFill>
              <a:latin typeface="Arial"/>
            </a:endParaRPr>
          </a:p>
        </p:txBody>
      </p:sp>
      <p:sp>
        <p:nvSpPr>
          <p:cNvPr id="22" name="Rounded Rectangle 18">
            <a:extLst>
              <a:ext uri="{FF2B5EF4-FFF2-40B4-BE49-F238E27FC236}">
                <a16:creationId xmlns:a16="http://schemas.microsoft.com/office/drawing/2014/main" id="{2250962A-2A48-49DD-8C6A-5891747E6369}"/>
              </a:ext>
            </a:extLst>
          </p:cNvPr>
          <p:cNvSpPr/>
          <p:nvPr/>
        </p:nvSpPr>
        <p:spPr>
          <a:xfrm>
            <a:off x="5496566" y="4128039"/>
            <a:ext cx="1765446" cy="859439"/>
          </a:xfrm>
          <a:prstGeom prst="roundRect">
            <a:avLst/>
          </a:prstGeom>
          <a:solidFill>
            <a:srgbClr val="E7F3FD"/>
          </a:solidFill>
          <a:ln w="1270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>
            <a:normAutofit lnSpcReduction="10000"/>
          </a:bodyPr>
          <a:lstStyle/>
          <a:p>
            <a:pPr algn="ctr"/>
            <a:r>
              <a:rPr lang="ru-RU" sz="1400" dirty="0">
                <a:solidFill>
                  <a:srgbClr val="272D3A"/>
                </a:solidFill>
              </a:rPr>
              <a:t>Просмотр исторической телеметрии ТС</a:t>
            </a:r>
            <a:endParaRPr sz="1400" dirty="0">
              <a:solidFill>
                <a:srgbClr val="272D3A"/>
              </a:solidFill>
              <a:latin typeface="Arial"/>
            </a:endParaRPr>
          </a:p>
        </p:txBody>
      </p:sp>
      <p:sp>
        <p:nvSpPr>
          <p:cNvPr id="23" name="Rounded Rectangle 18">
            <a:extLst>
              <a:ext uri="{FF2B5EF4-FFF2-40B4-BE49-F238E27FC236}">
                <a16:creationId xmlns:a16="http://schemas.microsoft.com/office/drawing/2014/main" id="{B11C4722-AFBC-4499-8A16-FACAAA8F8792}"/>
              </a:ext>
            </a:extLst>
          </p:cNvPr>
          <p:cNvSpPr/>
          <p:nvPr/>
        </p:nvSpPr>
        <p:spPr>
          <a:xfrm>
            <a:off x="7693219" y="4098043"/>
            <a:ext cx="1765446" cy="859439"/>
          </a:xfrm>
          <a:prstGeom prst="roundRect">
            <a:avLst/>
          </a:prstGeom>
          <a:solidFill>
            <a:srgbClr val="E7F3FD"/>
          </a:solidFill>
          <a:ln w="1270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>
            <a:normAutofit lnSpcReduction="10000"/>
          </a:bodyPr>
          <a:lstStyle/>
          <a:p>
            <a:pPr algn="ctr"/>
            <a:r>
              <a:rPr lang="ru-RU" sz="1400" dirty="0">
                <a:solidFill>
                  <a:srgbClr val="272D3A"/>
                </a:solidFill>
                <a:latin typeface="Arial"/>
              </a:rPr>
              <a:t>События зонального отслеживания</a:t>
            </a:r>
            <a:endParaRPr sz="1400" dirty="0">
              <a:solidFill>
                <a:srgbClr val="272D3A"/>
              </a:solidFill>
              <a:latin typeface="Arial"/>
            </a:endParaRPr>
          </a:p>
        </p:txBody>
      </p:sp>
      <p:sp>
        <p:nvSpPr>
          <p:cNvPr id="24" name="Rounded Rectangle 18">
            <a:extLst>
              <a:ext uri="{FF2B5EF4-FFF2-40B4-BE49-F238E27FC236}">
                <a16:creationId xmlns:a16="http://schemas.microsoft.com/office/drawing/2014/main" id="{86E20C46-C2BA-44F5-8AFA-587AC07E1316}"/>
              </a:ext>
            </a:extLst>
          </p:cNvPr>
          <p:cNvSpPr/>
          <p:nvPr/>
        </p:nvSpPr>
        <p:spPr>
          <a:xfrm>
            <a:off x="9889871" y="4105837"/>
            <a:ext cx="1853893" cy="859439"/>
          </a:xfrm>
          <a:prstGeom prst="roundRect">
            <a:avLst/>
          </a:prstGeom>
          <a:solidFill>
            <a:srgbClr val="E7F3FD"/>
          </a:solidFill>
          <a:ln w="1270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>
            <a:normAutofit lnSpcReduction="10000"/>
          </a:bodyPr>
          <a:lstStyle/>
          <a:p>
            <a:pPr algn="ctr"/>
            <a:r>
              <a:rPr lang="ru-RU" sz="1400" dirty="0">
                <a:solidFill>
                  <a:srgbClr val="272D3A"/>
                </a:solidFill>
                <a:latin typeface="Arial"/>
              </a:rPr>
              <a:t>Пространственно-временной поиск телеметрии</a:t>
            </a:r>
            <a:endParaRPr sz="1400" dirty="0">
              <a:solidFill>
                <a:srgbClr val="272D3A"/>
              </a:solidFill>
              <a:latin typeface="Arial"/>
            </a:endParaRPr>
          </a:p>
        </p:txBody>
      </p:sp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37CB025D-A2CB-4FF8-9F77-6CE7B3B83F2B}"/>
              </a:ext>
            </a:extLst>
          </p:cNvPr>
          <p:cNvCxnSpPr>
            <a:stCxn id="19" idx="1"/>
            <a:endCxn id="20" idx="0"/>
          </p:cNvCxnSpPr>
          <p:nvPr/>
        </p:nvCxnSpPr>
        <p:spPr>
          <a:xfrm flipH="1">
            <a:off x="1887071" y="3647127"/>
            <a:ext cx="2550757" cy="4435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29">
            <a:extLst>
              <a:ext uri="{FF2B5EF4-FFF2-40B4-BE49-F238E27FC236}">
                <a16:creationId xmlns:a16="http://schemas.microsoft.com/office/drawing/2014/main" id="{8CE3DB52-3685-463A-A290-C29835206757}"/>
              </a:ext>
            </a:extLst>
          </p:cNvPr>
          <p:cNvCxnSpPr>
            <a:stCxn id="19" idx="2"/>
            <a:endCxn id="21" idx="0"/>
          </p:cNvCxnSpPr>
          <p:nvPr/>
        </p:nvCxnSpPr>
        <p:spPr>
          <a:xfrm flipH="1">
            <a:off x="4182636" y="3855218"/>
            <a:ext cx="2200085" cy="235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>
            <a:extLst>
              <a:ext uri="{FF2B5EF4-FFF2-40B4-BE49-F238E27FC236}">
                <a16:creationId xmlns:a16="http://schemas.microsoft.com/office/drawing/2014/main" id="{DF39FD4E-B52D-402E-AC55-383A0EF936AE}"/>
              </a:ext>
            </a:extLst>
          </p:cNvPr>
          <p:cNvCxnSpPr>
            <a:stCxn id="19" idx="2"/>
            <a:endCxn id="22" idx="0"/>
          </p:cNvCxnSpPr>
          <p:nvPr/>
        </p:nvCxnSpPr>
        <p:spPr>
          <a:xfrm flipH="1">
            <a:off x="6379289" y="3855218"/>
            <a:ext cx="3432" cy="2728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942DA4BD-794B-4898-A1AF-878C3A9F1A9B}"/>
              </a:ext>
            </a:extLst>
          </p:cNvPr>
          <p:cNvCxnSpPr>
            <a:stCxn id="19" idx="2"/>
            <a:endCxn id="23" idx="0"/>
          </p:cNvCxnSpPr>
          <p:nvPr/>
        </p:nvCxnSpPr>
        <p:spPr>
          <a:xfrm>
            <a:off x="6382721" y="3855218"/>
            <a:ext cx="2193221" cy="2428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9354E285-F8F5-4606-85E2-7F529CFEF4B5}"/>
              </a:ext>
            </a:extLst>
          </p:cNvPr>
          <p:cNvCxnSpPr>
            <a:stCxn id="19" idx="3"/>
            <a:endCxn id="24" idx="0"/>
          </p:cNvCxnSpPr>
          <p:nvPr/>
        </p:nvCxnSpPr>
        <p:spPr>
          <a:xfrm>
            <a:off x="8327613" y="3647127"/>
            <a:ext cx="2489205" cy="4587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8E1F860C-1A26-4FBD-BED1-01C68F449F62}"/>
              </a:ext>
            </a:extLst>
          </p:cNvPr>
          <p:cNvSpPr txBox="1"/>
          <p:nvPr/>
        </p:nvSpPr>
        <p:spPr>
          <a:xfrm>
            <a:off x="430608" y="5192724"/>
            <a:ext cx="4392110" cy="408623"/>
          </a:xfrm>
          <a:prstGeom prst="round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ru-RU" b="1" dirty="0">
                <a:solidFill>
                  <a:srgbClr val="005BAA"/>
                </a:solidFill>
                <a:latin typeface="Arial"/>
              </a:rPr>
              <a:t>Перспективы развития</a:t>
            </a:r>
            <a:endParaRPr lang="ru-RU" sz="1800" b="1" i="0" dirty="0">
              <a:solidFill>
                <a:srgbClr val="005BAA"/>
              </a:solidFill>
              <a:latin typeface="Arial"/>
            </a:endParaRPr>
          </a:p>
        </p:txBody>
      </p:sp>
      <p:sp>
        <p:nvSpPr>
          <p:cNvPr id="40" name="Rounded Rectangle 18">
            <a:extLst>
              <a:ext uri="{FF2B5EF4-FFF2-40B4-BE49-F238E27FC236}">
                <a16:creationId xmlns:a16="http://schemas.microsoft.com/office/drawing/2014/main" id="{C9883E86-544A-4B81-98F2-7767F635DC0C}"/>
              </a:ext>
            </a:extLst>
          </p:cNvPr>
          <p:cNvSpPr/>
          <p:nvPr/>
        </p:nvSpPr>
        <p:spPr>
          <a:xfrm>
            <a:off x="906453" y="5794551"/>
            <a:ext cx="1371003" cy="859439"/>
          </a:xfrm>
          <a:prstGeom prst="roundRect">
            <a:avLst/>
          </a:prstGeom>
          <a:solidFill>
            <a:srgbClr val="E7F3FD"/>
          </a:solidFill>
          <a:ln w="1270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>
            <a:normAutofit/>
          </a:bodyPr>
          <a:lstStyle/>
          <a:p>
            <a:pPr algn="ctr"/>
            <a:r>
              <a:rPr lang="ru-RU" sz="1400" dirty="0">
                <a:solidFill>
                  <a:srgbClr val="272D3A"/>
                </a:solidFill>
                <a:latin typeface="Arial"/>
              </a:rPr>
              <a:t>Построение маршрутов</a:t>
            </a:r>
            <a:endParaRPr sz="1400" dirty="0">
              <a:solidFill>
                <a:srgbClr val="272D3A"/>
              </a:solidFill>
              <a:latin typeface="Arial"/>
            </a:endParaRPr>
          </a:p>
        </p:txBody>
      </p:sp>
      <p:sp>
        <p:nvSpPr>
          <p:cNvPr id="41" name="Rounded Rectangle 18">
            <a:extLst>
              <a:ext uri="{FF2B5EF4-FFF2-40B4-BE49-F238E27FC236}">
                <a16:creationId xmlns:a16="http://schemas.microsoft.com/office/drawing/2014/main" id="{E51E3887-5871-4B9D-A4A6-4B45D8D337A0}"/>
              </a:ext>
            </a:extLst>
          </p:cNvPr>
          <p:cNvSpPr/>
          <p:nvPr/>
        </p:nvSpPr>
        <p:spPr>
          <a:xfrm>
            <a:off x="2476947" y="5794554"/>
            <a:ext cx="1371003" cy="859439"/>
          </a:xfrm>
          <a:prstGeom prst="roundRect">
            <a:avLst/>
          </a:prstGeom>
          <a:solidFill>
            <a:srgbClr val="E7F3FD"/>
          </a:solidFill>
          <a:ln w="1270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>
            <a:normAutofit/>
          </a:bodyPr>
          <a:lstStyle/>
          <a:p>
            <a:pPr algn="ctr"/>
            <a:r>
              <a:rPr lang="ru-RU" sz="1200" dirty="0">
                <a:solidFill>
                  <a:srgbClr val="272D3A"/>
                </a:solidFill>
                <a:latin typeface="Arial"/>
              </a:rPr>
              <a:t>Трассовое отслеживание</a:t>
            </a:r>
            <a:endParaRPr sz="1200" dirty="0">
              <a:solidFill>
                <a:srgbClr val="272D3A"/>
              </a:solidFill>
              <a:latin typeface="Arial"/>
            </a:endParaRPr>
          </a:p>
        </p:txBody>
      </p:sp>
      <p:sp>
        <p:nvSpPr>
          <p:cNvPr id="42" name="Rounded Rectangle 18">
            <a:extLst>
              <a:ext uri="{FF2B5EF4-FFF2-40B4-BE49-F238E27FC236}">
                <a16:creationId xmlns:a16="http://schemas.microsoft.com/office/drawing/2014/main" id="{3FF17AED-9C83-4686-A150-A785886B426E}"/>
              </a:ext>
            </a:extLst>
          </p:cNvPr>
          <p:cNvSpPr/>
          <p:nvPr/>
        </p:nvSpPr>
        <p:spPr>
          <a:xfrm>
            <a:off x="4080741" y="5794553"/>
            <a:ext cx="2075028" cy="859439"/>
          </a:xfrm>
          <a:prstGeom prst="roundRect">
            <a:avLst/>
          </a:prstGeom>
          <a:solidFill>
            <a:srgbClr val="E7F3FD"/>
          </a:solidFill>
          <a:ln w="1270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>
            <a:normAutofit lnSpcReduction="10000"/>
          </a:bodyPr>
          <a:lstStyle/>
          <a:p>
            <a:pPr algn="ctr"/>
            <a:r>
              <a:rPr lang="ru-RU" sz="1400" dirty="0">
                <a:solidFill>
                  <a:srgbClr val="272D3A"/>
                </a:solidFill>
                <a:latin typeface="Arial"/>
              </a:rPr>
              <a:t>Передача данных на оборудование (звонки, тахографы)</a:t>
            </a:r>
            <a:endParaRPr sz="1400" dirty="0">
              <a:solidFill>
                <a:srgbClr val="272D3A"/>
              </a:solidFill>
              <a:latin typeface="Arial"/>
            </a:endParaRPr>
          </a:p>
        </p:txBody>
      </p:sp>
      <p:sp>
        <p:nvSpPr>
          <p:cNvPr id="43" name="Rounded Rectangle 18">
            <a:extLst>
              <a:ext uri="{FF2B5EF4-FFF2-40B4-BE49-F238E27FC236}">
                <a16:creationId xmlns:a16="http://schemas.microsoft.com/office/drawing/2014/main" id="{4851C47E-44E6-4DE6-B9C5-480874A9579B}"/>
              </a:ext>
            </a:extLst>
          </p:cNvPr>
          <p:cNvSpPr/>
          <p:nvPr/>
        </p:nvSpPr>
        <p:spPr>
          <a:xfrm>
            <a:off x="6365837" y="5794552"/>
            <a:ext cx="1514139" cy="859439"/>
          </a:xfrm>
          <a:prstGeom prst="roundRect">
            <a:avLst/>
          </a:prstGeom>
          <a:solidFill>
            <a:srgbClr val="E7F3FD"/>
          </a:solidFill>
          <a:ln w="1270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>
            <a:normAutofit lnSpcReduction="10000"/>
          </a:bodyPr>
          <a:lstStyle/>
          <a:p>
            <a:pPr algn="ctr"/>
            <a:r>
              <a:rPr lang="ru-RU" sz="1400" dirty="0">
                <a:solidFill>
                  <a:srgbClr val="272D3A"/>
                </a:solidFill>
                <a:latin typeface="Arial"/>
              </a:rPr>
              <a:t>Учет транспортной работы</a:t>
            </a:r>
            <a:endParaRPr sz="1400" dirty="0">
              <a:solidFill>
                <a:srgbClr val="272D3A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577797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4F707855-C815-4FF1-B493-8351700E17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67416" y="2677297"/>
            <a:ext cx="6673723" cy="1997341"/>
          </a:xfrm>
        </p:spPr>
        <p:txBody>
          <a:bodyPr>
            <a:normAutofit/>
          </a:bodyPr>
          <a:lstStyle/>
          <a:p>
            <a:pPr algn="l"/>
            <a:r>
              <a:rPr lang="ru-RU" sz="4800" dirty="0"/>
              <a:t>Спасибо за внимание!</a:t>
            </a:r>
          </a:p>
        </p:txBody>
      </p:sp>
      <p:sp>
        <p:nvSpPr>
          <p:cNvPr id="4" name="Текст 2">
            <a:extLst>
              <a:ext uri="{FF2B5EF4-FFF2-40B4-BE49-F238E27FC236}">
                <a16:creationId xmlns:a16="http://schemas.microsoft.com/office/drawing/2014/main" id="{DB9E92ED-35AE-4EDF-9915-68D689B9F573}"/>
              </a:ext>
            </a:extLst>
          </p:cNvPr>
          <p:cNvSpPr txBox="1">
            <a:spLocks/>
          </p:cNvSpPr>
          <p:nvPr/>
        </p:nvSpPr>
        <p:spPr>
          <a:xfrm>
            <a:off x="4967416" y="4273095"/>
            <a:ext cx="6330950" cy="84115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2428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Быстров М.Д., 4131з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2428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272D3A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Фомин А.В., к.т.н., доц.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2428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2730711"/>
      </p:ext>
    </p:extLst>
  </p:cSld>
  <p:clrMapOvr>
    <a:masterClrMapping/>
  </p:clrMapOvr>
</p:sld>
</file>

<file path=ppt/theme/theme1.xml><?xml version="1.0" encoding="utf-8"?>
<a:theme xmlns:a="http://schemas.openxmlformats.org/drawingml/2006/main" name="Титульная страница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ГУАП презентация курса.potx" id="{0DF838E0-DD05-488A-AC6B-E98ACB4C24AD}" vid="{75426110-BF82-4921-B51E-81780A536C48}"/>
    </a:ext>
  </a:extLst>
</a:theme>
</file>

<file path=ppt/theme/theme2.xml><?xml version="1.0" encoding="utf-8"?>
<a:theme xmlns:a="http://schemas.openxmlformats.org/drawingml/2006/main" name="Текстовые блоки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6200000" scaled="1"/>
          <a:tileRect/>
        </a:gradFill>
        <a:ln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000" dirty="0">
            <a:solidFill>
              <a:schemeClr val="tx2"/>
            </a:solidFill>
          </a:defRPr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ГУАП презентация курса.potx" id="{0DF838E0-DD05-488A-AC6B-E98ACB4C24AD}" vid="{8C20C85A-CFD0-4C40-80A0-6689F915CE1B}"/>
    </a:ext>
  </a:extLst>
</a:theme>
</file>

<file path=ppt/theme/theme3.xml><?xml version="1.0" encoding="utf-8"?>
<a:theme xmlns:a="http://schemas.openxmlformats.org/drawingml/2006/main" name="Дополнительные блоки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6200000" scaled="1"/>
          <a:tileRect/>
        </a:gradFill>
        <a:ln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000" dirty="0">
            <a:solidFill>
              <a:schemeClr val="tx2"/>
            </a:solidFill>
          </a:defRPr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ГУАП презентация курса.potx" id="{0DF838E0-DD05-488A-AC6B-E98ACB4C24AD}" vid="{AFBC0B84-8B15-49D7-9C5E-B813409B8E8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ГУАП презентация курса - шаблон</Template>
  <TotalTime>21162</TotalTime>
  <Words>977</Words>
  <Application>Microsoft Office PowerPoint</Application>
  <PresentationFormat>Широкоэкранный</PresentationFormat>
  <Paragraphs>184</Paragraphs>
  <Slides>14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14</vt:i4>
      </vt:variant>
    </vt:vector>
  </HeadingPairs>
  <TitlesOfParts>
    <vt:vector size="21" baseType="lpstr">
      <vt:lpstr>Arial</vt:lpstr>
      <vt:lpstr>Calibri</vt:lpstr>
      <vt:lpstr>roboto</vt:lpstr>
      <vt:lpstr>Wingdings</vt:lpstr>
      <vt:lpstr>Титульная страница</vt:lpstr>
      <vt:lpstr>Текстовые блоки</vt:lpstr>
      <vt:lpstr>Дополнительные блоки</vt:lpstr>
      <vt:lpstr>Разработка системы позиционного отслеживания транспортных средств с обработкой событий в реальном времени</vt:lpstr>
      <vt:lpstr>Цель</vt:lpstr>
      <vt:lpstr>Задачи</vt:lpstr>
      <vt:lpstr>Актуальность</vt:lpstr>
      <vt:lpstr>Выбранные методы, решения, подходы, стек технологий</vt:lpstr>
      <vt:lpstr>Выбранные методы, решения, подходы, стек технологий   </vt:lpstr>
      <vt:lpstr>Описание решения</vt:lpstr>
      <vt:lpstr>Описание решения</vt:lpstr>
      <vt:lpstr>Описание решения</vt:lpstr>
      <vt:lpstr>Результаты</vt:lpstr>
      <vt:lpstr>Результаты</vt:lpstr>
      <vt:lpstr>Тестирование</vt:lpstr>
      <vt:lpstr>Заключение</vt:lpstr>
      <vt:lpstr>Презентация PowerPoint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Фирменный стиль  презентаций</dc:title>
  <dc:creator>Быстров Максим</dc:creator>
  <cp:lastModifiedBy>user</cp:lastModifiedBy>
  <cp:revision>174</cp:revision>
  <dcterms:created xsi:type="dcterms:W3CDTF">2023-06-16T08:15:39Z</dcterms:created>
  <dcterms:modified xsi:type="dcterms:W3CDTF">2026-06-22T21:59:08Z</dcterms:modified>
</cp:coreProperties>
</file>