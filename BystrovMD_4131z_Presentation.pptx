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1" r:id="rId1"/>
    <p:sldMasterId id="2147483657" r:id="rId2"/>
    <p:sldMasterId id="2147483833" r:id="rId3"/>
  </p:sldMasterIdLst>
  <p:notesMasterIdLst>
    <p:notesMasterId r:id="rId18"/>
  </p:notesMasterIdLst>
  <p:handoutMasterIdLst>
    <p:handoutMasterId r:id="rId19"/>
  </p:handoutMasterIdLst>
  <p:sldIdLst>
    <p:sldId id="1171" r:id="rId4"/>
    <p:sldId id="1126" r:id="rId5"/>
    <p:sldId id="1173" r:id="rId6"/>
    <p:sldId id="1097" r:id="rId7"/>
    <p:sldId id="1172" r:id="rId8"/>
    <p:sldId id="1201" r:id="rId9"/>
    <p:sldId id="1205" r:id="rId10"/>
    <p:sldId id="1202" r:id="rId11"/>
    <p:sldId id="1203" r:id="rId12"/>
    <p:sldId id="1204" r:id="rId13"/>
    <p:sldId id="1185" r:id="rId14"/>
    <p:sldId id="1199" r:id="rId15"/>
    <p:sldId id="1200" r:id="rId16"/>
    <p:sldId id="1197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уководство" id="{E6ECDA77-1B8E-0E4F-8DDA-529EB99512FD}">
          <p14:sldIdLst>
            <p14:sldId id="1171"/>
            <p14:sldId id="1126"/>
            <p14:sldId id="1173"/>
            <p14:sldId id="1097"/>
            <p14:sldId id="1172"/>
            <p14:sldId id="1201"/>
            <p14:sldId id="1205"/>
            <p14:sldId id="1202"/>
            <p14:sldId id="1203"/>
            <p14:sldId id="1204"/>
            <p14:sldId id="1185"/>
            <p14:sldId id="1199"/>
            <p14:sldId id="1200"/>
            <p14:sldId id="119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лексей Малышев" initials="АМ" lastIdx="8" clrIdx="0">
    <p:extLst>
      <p:ext uri="{19B8F6BF-5375-455C-9EA6-DF929625EA0E}">
        <p15:presenceInfo xmlns:p15="http://schemas.microsoft.com/office/powerpoint/2012/main" userId="8ae9c15f625b32bb" providerId="Windows Live"/>
      </p:ext>
    </p:extLst>
  </p:cmAuthor>
  <p:cmAuthor id="2" name="OCTS" initials="O" lastIdx="1" clrIdx="1">
    <p:extLst>
      <p:ext uri="{19B8F6BF-5375-455C-9EA6-DF929625EA0E}">
        <p15:presenceInfo xmlns:p15="http://schemas.microsoft.com/office/powerpoint/2012/main" userId="OCTS" providerId="None"/>
      </p:ext>
    </p:extLst>
  </p:cmAuthor>
  <p:cmAuthor id="3" name="Kostylev Andrey" initials="KA" lastIdx="1" clrIdx="2">
    <p:extLst>
      <p:ext uri="{19B8F6BF-5375-455C-9EA6-DF929625EA0E}">
        <p15:presenceInfo xmlns:p15="http://schemas.microsoft.com/office/powerpoint/2012/main" userId="146efb04217a1102" providerId="Windows Live"/>
      </p:ext>
    </p:extLst>
  </p:cmAuthor>
  <p:cmAuthor id="4" name="Elizaveta Kostyleva" initials="EK" lastIdx="1" clrIdx="3">
    <p:extLst>
      <p:ext uri="{19B8F6BF-5375-455C-9EA6-DF929625EA0E}">
        <p15:presenceInfo xmlns:p15="http://schemas.microsoft.com/office/powerpoint/2012/main" userId="S::ekostyleva@lifevantage.com::e5a115f0-bdb1-48b8-969c-0a472e870de3" providerId="AD"/>
      </p:ext>
    </p:extLst>
  </p:cmAuthor>
  <p:cmAuthor id="5" name="ОЦТС" initials="О" lastIdx="2" clrIdx="4">
    <p:extLst>
      <p:ext uri="{19B8F6BF-5375-455C-9EA6-DF929625EA0E}">
        <p15:presenceInfo xmlns:p15="http://schemas.microsoft.com/office/powerpoint/2012/main" userId="ОЦТС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AC"/>
    <a:srgbClr val="DEF2FA"/>
    <a:srgbClr val="D4EEF8"/>
    <a:srgbClr val="4AB7E3"/>
    <a:srgbClr val="C3CCE7"/>
    <a:srgbClr val="E0F4E1"/>
    <a:srgbClr val="B6E4B8"/>
    <a:srgbClr val="2E7D32"/>
    <a:srgbClr val="F1F8F3"/>
    <a:srgbClr val="E7F3FD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0520" autoAdjust="0"/>
  </p:normalViewPr>
  <p:slideViewPr>
    <p:cSldViewPr snapToGrid="0" snapToObjects="1">
      <p:cViewPr varScale="1">
        <p:scale>
          <a:sx n="114" d="100"/>
          <a:sy n="114" d="100"/>
        </p:scale>
        <p:origin x="300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66" d="100"/>
        <a:sy n="66" d="100"/>
      </p:scale>
      <p:origin x="0" y="-7146"/>
    </p:cViewPr>
  </p:sorterViewPr>
  <p:notesViewPr>
    <p:cSldViewPr snapToGrid="0" snapToObjects="1">
      <p:cViewPr varScale="1">
        <p:scale>
          <a:sx n="85" d="100"/>
          <a:sy n="85" d="100"/>
        </p:scale>
        <p:origin x="380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A78F288-5E3C-4F81-AD43-7789565D29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2D620-2592-455C-9AF4-8E2D0C2F79A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FFCE6C-E7E6-4C35-A8B5-8F9784AA6873}" type="datetimeFigureOut">
              <a:rPr lang="en-US" smtClean="0"/>
              <a:pPr/>
              <a:t>6/14/2026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5628E3-CFC5-471A-B6A2-9F949B2E81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586937-338C-4D39-8822-B1F000CF6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E77762-F59A-4FB1-90F9-50BE76F0335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5588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46D5B-6567-794D-8CBA-5CCA973D6774}" type="datetimeFigureOut">
              <a:rPr lang="ru-RU"/>
              <a:pPr/>
              <a:t>14.06.2026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DE2F8-02D4-C448-B364-7246A6689E7F}" type="slidenum">
              <a:rPr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934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41725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43589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0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9948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9704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EDE2F8-02D4-C448-B364-7246A6689E7F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6184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1814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36746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ая стран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6EB76-0898-4F71-9685-0F9BE4E1F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CD38B1-ACC6-416C-AF72-6F91347F95C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568243"/>
            <a:ext cx="6330950" cy="84115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ru-RU" dirty="0"/>
              <a:t>Имя Фамилия 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0C140D7-ACA5-419A-846F-D1888293EF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2598" y="5993952"/>
            <a:ext cx="3488540" cy="387798"/>
          </a:xfrm>
        </p:spPr>
        <p:txBody>
          <a:bodyPr/>
          <a:lstStyle>
            <a:lvl2pPr>
              <a:defRPr/>
            </a:lvl2pPr>
            <a:lvl3pPr marL="914400" indent="0">
              <a:buNone/>
              <a:defRPr/>
            </a:lvl3pPr>
          </a:lstStyle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2891415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один бл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748982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155870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65" userDrawn="1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а бло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C75DE5C1-456E-4D90-87F0-D35E9FD23C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56364" y="1341437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96248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е колонки в одном блок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11090275" cy="5040312"/>
          </a:xfrm>
        </p:spPr>
        <p:txBody>
          <a:bodyPr numCol="2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7472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735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6875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AFB8C0-5C8E-4D3D-ADF9-00059CE618CF}"/>
              </a:ext>
            </a:extLst>
          </p:cNvPr>
          <p:cNvSpPr txBox="1"/>
          <p:nvPr userDrawn="1"/>
        </p:nvSpPr>
        <p:spPr>
          <a:xfrm>
            <a:off x="9541404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8771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1843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0205243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5385"/>
          <a:stretch/>
        </p:blipFill>
        <p:spPr>
          <a:xfrm>
            <a:off x="10776480" y="5500691"/>
            <a:ext cx="864658" cy="9138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676746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A6AFA2-D81A-4798-AEC0-3F4A7A8C22AC}"/>
              </a:ext>
            </a:extLst>
          </p:cNvPr>
          <p:cNvSpPr txBox="1"/>
          <p:nvPr userDrawn="1"/>
        </p:nvSpPr>
        <p:spPr>
          <a:xfrm>
            <a:off x="571238" y="6179006"/>
            <a:ext cx="32050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0" dirty="0">
                <a:solidFill>
                  <a:schemeClr val="bg1">
                    <a:lumMod val="50000"/>
                  </a:schemeClr>
                </a:solidFill>
              </a:rPr>
              <a:t>© </a:t>
            </a:r>
            <a:r>
              <a:rPr lang="ru-RU" sz="1100" b="0" dirty="0">
                <a:solidFill>
                  <a:schemeClr val="bg1">
                    <a:lumMod val="50000"/>
                  </a:schemeClr>
                </a:solidFill>
              </a:rPr>
              <a:t>ГУАП, 2023</a:t>
            </a:r>
            <a:endParaRPr lang="ru-RU" sz="1400" b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039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3 - для выступлени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509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4 -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AF823-6E65-4BE2-B22A-CEAA3977E7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6363" y="3275544"/>
            <a:ext cx="5184775" cy="1997341"/>
          </a:xfrm>
        </p:spPr>
        <p:txBody>
          <a:bodyPr anchor="ctr" anchorCtr="0"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400157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30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A26B8BC-9AE2-41D8-8A90-8D1C0A2A554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5009951-9659-4924-B8D1-D9994BE1E4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6155"/>
          <a:stretch/>
        </p:blipFill>
        <p:spPr>
          <a:xfrm>
            <a:off x="550865" y="304376"/>
            <a:ext cx="2827336" cy="109537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39E3CC-EBAD-4C68-8215-E3D1E3388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4" y="2509678"/>
            <a:ext cx="8051638" cy="1325563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220187D-590C-4FB1-A787-08B69F583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4568243"/>
            <a:ext cx="6234948" cy="10047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1624853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r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32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40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44A2A7-9511-4B2D-A046-C71363808B05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412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1" r:id="rId2"/>
    <p:sldLayoutId id="2147483759" r:id="rId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3613" userDrawn="1">
          <p15:clr>
            <a:srgbClr val="F26B43"/>
          </p15:clr>
        </p15:guide>
        <p15:guide id="6" pos="406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4C9C7-3F3B-4FAE-B19C-B28F0A67B7F7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624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6" r:id="rId2"/>
    <p:sldLayoutId id="2147483847" r:id="rId3"/>
    <p:sldLayoutId id="2147483849" r:id="rId4"/>
    <p:sldLayoutId id="2147483850" r:id="rId5"/>
    <p:sldLayoutId id="2147483843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4067" userDrawn="1">
          <p15:clr>
            <a:srgbClr val="F26B43"/>
          </p15:clr>
        </p15:guide>
        <p15:guide id="6" pos="36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gif"/><Relationship Id="rId4" Type="http://schemas.openxmlformats.org/officeDocument/2006/relationships/image" Target="../media/image8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5BC97-99E1-4827-A5AA-5E9EBED1B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2115671"/>
            <a:ext cx="8270407" cy="1483535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системы позиционного отслеживания транспортных средств с обработкой событий в реальном времени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EA8D34-BBBA-48A9-9B83-130C3E8DC9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4" y="4258962"/>
            <a:ext cx="6330950" cy="841155"/>
          </a:xfrm>
        </p:spPr>
        <p:txBody>
          <a:bodyPr>
            <a:normAutofit/>
          </a:bodyPr>
          <a:lstStyle/>
          <a:p>
            <a:r>
              <a:rPr lang="ru-RU" dirty="0"/>
              <a:t>Быстров М.Д., 4131з</a:t>
            </a:r>
          </a:p>
          <a:p>
            <a:endParaRPr lang="ru-RU" dirty="0"/>
          </a:p>
          <a:p>
            <a:r>
              <a:rPr lang="ru-RU" sz="1800" b="0" i="0" dirty="0">
                <a:solidFill>
                  <a:srgbClr val="272D3A"/>
                </a:solidFill>
                <a:latin typeface="Arial"/>
              </a:rPr>
              <a:t>Фомин А.В., </a:t>
            </a:r>
            <a:r>
              <a:rPr lang="ru-RU" sz="1800" dirty="0">
                <a:solidFill>
                  <a:srgbClr val="272D3A"/>
                </a:solidFill>
                <a:latin typeface="Arial"/>
              </a:rPr>
              <a:t>к.т.н., доц.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C26AC53-244B-4289-B3B5-D31C1BFD52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ru-RU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70581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13" name="Текст 4">
            <a:extLst>
              <a:ext uri="{FF2B5EF4-FFF2-40B4-BE49-F238E27FC236}">
                <a16:creationId xmlns:a16="http://schemas.microsoft.com/office/drawing/2014/main" id="{993A51E0-594E-4829-B37D-2694C1C3ED60}"/>
              </a:ext>
            </a:extLst>
          </p:cNvPr>
          <p:cNvSpPr txBox="1">
            <a:spLocks/>
          </p:cNvSpPr>
          <p:nvPr/>
        </p:nvSpPr>
        <p:spPr>
          <a:xfrm>
            <a:off x="6456362" y="4065973"/>
            <a:ext cx="5184775" cy="2315777"/>
          </a:xfrm>
          <a:prstGeom prst="rect">
            <a:avLst/>
          </a:prstGeom>
        </p:spPr>
        <p:txBody>
          <a:bodyPr vert="horz" lIns="0" tIns="0" rIns="0" bIns="0" numCol="1" spcCol="72000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Font typeface="Arial" panose="020B0604020202020204" pitchFamily="34" charset="0"/>
              <a:buNone/>
              <a:defRPr sz="1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Clr>
                <a:schemeClr val="accent1">
                  <a:lumMod val="50000"/>
                </a:schemeClr>
              </a:buClr>
              <a:buSzPct val="120000"/>
              <a:buFont typeface="Wingdings" panose="05000000000000000000" pitchFamily="2" charset="2"/>
              <a:buNone/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Clr>
                <a:schemeClr val="accent1">
                  <a:lumMod val="50000"/>
                </a:schemeClr>
              </a:buClr>
              <a:buFont typeface="+mj-lt"/>
              <a:buNone/>
              <a:tabLst>
                <a:tab pos="269875" algn="l"/>
              </a:tabLs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1463" indent="-271463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Font typeface="Wingdings" panose="05000000000000000000" pitchFamily="2" charset="2"/>
              <a:buChar char="§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Font typeface="+mj-lt"/>
              <a:buAutoNum type="arabi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5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F1301-B7F1-4E7C-A520-ECE432D3D4D6}"/>
              </a:ext>
            </a:extLst>
          </p:cNvPr>
          <p:cNvSpPr txBox="1"/>
          <p:nvPr/>
        </p:nvSpPr>
        <p:spPr>
          <a:xfrm>
            <a:off x="506136" y="2475947"/>
            <a:ext cx="11135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</a:t>
            </a:r>
            <a:r>
              <a:rPr lang="ru-RU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ри выполнении позиционного мониторинга и диспетчеризаци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и </a:t>
            </a:r>
            <a:r>
              <a:rPr lang="ru-RU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ТС необходимо иметь 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возможность </a:t>
            </a:r>
            <a:r>
              <a:rPr lang="ru-RU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пространственно-временного поиска телеметрии и зонального отслеживания в реальном времени.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D78E16-A3E0-4983-8486-C74E3AFFA52D}"/>
              </a:ext>
            </a:extLst>
          </p:cNvPr>
          <p:cNvSpPr txBox="1"/>
          <p:nvPr/>
        </p:nvSpPr>
        <p:spPr>
          <a:xfrm>
            <a:off x="550863" y="1071726"/>
            <a:ext cx="11090274" cy="715089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/>
            <a:r>
              <a:rPr lang="ru-RU" b="1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С</a:t>
            </a:r>
            <a:r>
              <a:rPr lang="ru-RU" b="1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проектировать и реализовать систему позиционного отслеживания транспортных средств с обработкой событий в реальном времени.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B8DE4-0525-4C36-9638-5B6E47781B77}"/>
              </a:ext>
            </a:extLst>
          </p:cNvPr>
          <p:cNvSpPr txBox="1"/>
          <p:nvPr/>
        </p:nvSpPr>
        <p:spPr>
          <a:xfrm>
            <a:off x="550863" y="1986403"/>
            <a:ext cx="1690727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i="0" dirty="0">
                <a:solidFill>
                  <a:srgbClr val="005BAA"/>
                </a:solidFill>
                <a:latin typeface="Arial"/>
              </a:rPr>
              <a:t>Проблема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56F5E5-C61E-42DE-873D-63923C375AE1}"/>
              </a:ext>
            </a:extLst>
          </p:cNvPr>
          <p:cNvSpPr txBox="1"/>
          <p:nvPr/>
        </p:nvSpPr>
        <p:spPr>
          <a:xfrm>
            <a:off x="550863" y="3889058"/>
            <a:ext cx="110902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Применение методов пространственной дискретизации для создания пространственных индексов в памяти и в базе данных. Разработка системы отслеживания с использованием </a:t>
            </a:r>
            <a:r>
              <a:rPr lang="ru-RU" i="1" dirty="0" err="1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микросервисной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архитектуры с предоставлением пользовательского веб-интерфейса.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B3C664-EC49-49B0-9C4D-36792F0F08A2}"/>
              </a:ext>
            </a:extLst>
          </p:cNvPr>
          <p:cNvSpPr txBox="1"/>
          <p:nvPr/>
        </p:nvSpPr>
        <p:spPr>
          <a:xfrm>
            <a:off x="506136" y="5458420"/>
            <a:ext cx="109867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Ожидаемый результат: система</a:t>
            </a:r>
            <a:r>
              <a:rPr lang="ru-RU" b="1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обработки телеметрических данных, обладающая высокой производительностью, отказоустойчивостью и потенциалом масштабирования, предоставляющая возможности, повышающие эффективность процесса отслеживания транспортных средств.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76D17-C3BA-4FD6-9896-F0F25A5D565E}"/>
              </a:ext>
            </a:extLst>
          </p:cNvPr>
          <p:cNvSpPr txBox="1"/>
          <p:nvPr/>
        </p:nvSpPr>
        <p:spPr>
          <a:xfrm>
            <a:off x="550863" y="3390548"/>
            <a:ext cx="1690727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i="0" dirty="0">
                <a:solidFill>
                  <a:srgbClr val="005BAA"/>
                </a:solidFill>
                <a:latin typeface="Arial"/>
              </a:rPr>
              <a:t>Подход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EA902-6418-46A6-8046-997384C7AED4}"/>
              </a:ext>
            </a:extLst>
          </p:cNvPr>
          <p:cNvSpPr txBox="1"/>
          <p:nvPr/>
        </p:nvSpPr>
        <p:spPr>
          <a:xfrm>
            <a:off x="550862" y="5031807"/>
            <a:ext cx="3178456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i="0" dirty="0">
                <a:solidFill>
                  <a:srgbClr val="005BAA"/>
                </a:solidFill>
                <a:latin typeface="Arial"/>
              </a:rPr>
              <a:t>Ожидаемый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54731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D78059-7F1F-4351-A5C4-E90E22E132B3}"/>
              </a:ext>
            </a:extLst>
          </p:cNvPr>
          <p:cNvSpPr txBox="1"/>
          <p:nvPr/>
        </p:nvSpPr>
        <p:spPr>
          <a:xfrm>
            <a:off x="968368" y="1028343"/>
            <a:ext cx="1113500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</a:t>
            </a:r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роанализировать предметную область, её современное состояние, обосновать актуальность разработки;</a:t>
            </a:r>
          </a:p>
          <a:p>
            <a:pPr algn="l"/>
            <a:endParaRPr lang="en-US" i="0" dirty="0">
              <a:solidFill>
                <a:srgbClr val="005AAA"/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Провести этап</a:t>
            </a:r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ы выявления, анализа и документирования требований к разрабатываемой системе;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Описать возможные методы решения задач; выбрать наиболее эффективные;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Обосновать выбор технологий для реализации системы;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Спроектировать архитектуру системы и структуру обрабатываемых и хранимых данных;</a:t>
            </a:r>
          </a:p>
          <a:p>
            <a:pPr algn="l"/>
            <a:endParaRPr lang="ru-RU" i="0" dirty="0">
              <a:solidFill>
                <a:srgbClr val="005AAA"/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Реализовать и описать реализованные модули системы, их назначение и алгоритмы работы;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Провести </a:t>
            </a:r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тестирование системы, описать результаты тестирования;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</a:t>
            </a:r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писать ввод в эксплуатацию системы;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Определить пути дальнейшего развития.</a:t>
            </a:r>
          </a:p>
          <a:p>
            <a:pPr marL="342900" indent="-342900" algn="l">
              <a:buAutoNum type="arabicPeriod"/>
            </a:pPr>
            <a:endParaRPr lang="ru-RU" i="0" dirty="0">
              <a:solidFill>
                <a:srgbClr val="005AAA"/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Oval 9">
            <a:extLst>
              <a:ext uri="{FF2B5EF4-FFF2-40B4-BE49-F238E27FC236}">
                <a16:creationId xmlns:a16="http://schemas.microsoft.com/office/drawing/2014/main" id="{4DF6191E-643A-4338-81F2-16DA27B8D898}"/>
              </a:ext>
            </a:extLst>
          </p:cNvPr>
          <p:cNvSpPr/>
          <p:nvPr/>
        </p:nvSpPr>
        <p:spPr>
          <a:xfrm>
            <a:off x="550863" y="1150279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Oval 9">
            <a:extLst>
              <a:ext uri="{FF2B5EF4-FFF2-40B4-BE49-F238E27FC236}">
                <a16:creationId xmlns:a16="http://schemas.microsoft.com/office/drawing/2014/main" id="{79F08CB4-D28B-404B-BAE6-C3FB63E2AC57}"/>
              </a:ext>
            </a:extLst>
          </p:cNvPr>
          <p:cNvSpPr/>
          <p:nvPr/>
        </p:nvSpPr>
        <p:spPr>
          <a:xfrm>
            <a:off x="550863" y="1848293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2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Oval 9">
            <a:extLst>
              <a:ext uri="{FF2B5EF4-FFF2-40B4-BE49-F238E27FC236}">
                <a16:creationId xmlns:a16="http://schemas.microsoft.com/office/drawing/2014/main" id="{5000A295-493C-4958-9AD1-4182FC6D0703}"/>
              </a:ext>
            </a:extLst>
          </p:cNvPr>
          <p:cNvSpPr/>
          <p:nvPr/>
        </p:nvSpPr>
        <p:spPr>
          <a:xfrm>
            <a:off x="550863" y="2372571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3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Oval 9">
            <a:extLst>
              <a:ext uri="{FF2B5EF4-FFF2-40B4-BE49-F238E27FC236}">
                <a16:creationId xmlns:a16="http://schemas.microsoft.com/office/drawing/2014/main" id="{DE5A3D85-75CD-46E4-ACC6-0B66D2521B9C}"/>
              </a:ext>
            </a:extLst>
          </p:cNvPr>
          <p:cNvSpPr/>
          <p:nvPr/>
        </p:nvSpPr>
        <p:spPr>
          <a:xfrm>
            <a:off x="550863" y="2914190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4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7FD9D7ED-9D43-46BA-8538-F62022FB53B8}"/>
              </a:ext>
            </a:extLst>
          </p:cNvPr>
          <p:cNvSpPr/>
          <p:nvPr/>
        </p:nvSpPr>
        <p:spPr>
          <a:xfrm>
            <a:off x="550863" y="3491669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5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3ABF79F-A3FF-45FA-9A94-9EC3425F3CF9}"/>
              </a:ext>
            </a:extLst>
          </p:cNvPr>
          <p:cNvSpPr/>
          <p:nvPr/>
        </p:nvSpPr>
        <p:spPr>
          <a:xfrm>
            <a:off x="550863" y="4042253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6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Oval 9">
            <a:extLst>
              <a:ext uri="{FF2B5EF4-FFF2-40B4-BE49-F238E27FC236}">
                <a16:creationId xmlns:a16="http://schemas.microsoft.com/office/drawing/2014/main" id="{85211D33-4E24-4CA4-885E-7D991FC9F48A}"/>
              </a:ext>
            </a:extLst>
          </p:cNvPr>
          <p:cNvSpPr/>
          <p:nvPr/>
        </p:nvSpPr>
        <p:spPr>
          <a:xfrm>
            <a:off x="550863" y="4601802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7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CC6E327B-02DA-4371-9E07-C7D83807442E}"/>
              </a:ext>
            </a:extLst>
          </p:cNvPr>
          <p:cNvSpPr/>
          <p:nvPr/>
        </p:nvSpPr>
        <p:spPr>
          <a:xfrm>
            <a:off x="550863" y="5164429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8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Oval 9">
            <a:extLst>
              <a:ext uri="{FF2B5EF4-FFF2-40B4-BE49-F238E27FC236}">
                <a16:creationId xmlns:a16="http://schemas.microsoft.com/office/drawing/2014/main" id="{0909E7A9-21C7-430C-A005-2091326EE088}"/>
              </a:ext>
            </a:extLst>
          </p:cNvPr>
          <p:cNvSpPr/>
          <p:nvPr/>
        </p:nvSpPr>
        <p:spPr>
          <a:xfrm>
            <a:off x="557444" y="5682231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9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64585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4" name="Rounded Rectangle 18">
            <a:extLst>
              <a:ext uri="{FF2B5EF4-FFF2-40B4-BE49-F238E27FC236}">
                <a16:creationId xmlns:a16="http://schemas.microsoft.com/office/drawing/2014/main" id="{C6299E22-7962-4548-8D8F-291412F7EA1A}"/>
              </a:ext>
            </a:extLst>
          </p:cNvPr>
          <p:cNvSpPr/>
          <p:nvPr/>
        </p:nvSpPr>
        <p:spPr>
          <a:xfrm>
            <a:off x="506136" y="1049951"/>
            <a:ext cx="11135001" cy="1839481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sz="2000" i="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В эпоху цифровой трансформации в транспортной сфере широко используются возможности навигационных систем и сетей передачи информации для управления производственными процессами. Прогресс в этой области делает актуальными проблемы:</a:t>
            </a:r>
            <a:endParaRPr lang="ru-RU" sz="1600" dirty="0">
              <a:effectLst/>
            </a:endParaRPr>
          </a:p>
          <a:p>
            <a:pPr marL="347472" indent="-347472" algn="just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Обработки больших потоков телеметрических данных;</a:t>
            </a:r>
            <a:endParaRPr lang="ru-RU" sz="1600" dirty="0">
              <a:effectLst/>
            </a:endParaRPr>
          </a:p>
          <a:p>
            <a:pPr marL="347472" indent="-347472" algn="just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Поиска необходимых исторических телеметрических данных;</a:t>
            </a:r>
            <a:endParaRPr lang="ru-RU" sz="1600" dirty="0">
              <a:effectLst/>
            </a:endParaRPr>
          </a:p>
          <a:p>
            <a:pPr marL="347472" indent="-347472" algn="just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i="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Анализа телеметрических </a:t>
            </a: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данных в кратчайшие сроки.</a:t>
            </a:r>
            <a:endParaRPr lang="ru-RU" sz="1600" dirty="0">
              <a:effectLst/>
            </a:endParaRPr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249EB6E0-4A12-459B-A0B1-040C005F91FF}"/>
              </a:ext>
            </a:extLst>
          </p:cNvPr>
          <p:cNvSpPr/>
          <p:nvPr/>
        </p:nvSpPr>
        <p:spPr>
          <a:xfrm>
            <a:off x="506136" y="3048829"/>
            <a:ext cx="11134999" cy="9942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Эффективное решение этих задач позволит транспортным предприятиям получить новые аналитические возможности, уменьшить расходы на вычислительные ресурсы.</a:t>
            </a:r>
            <a:endParaRPr lang="ru-RU" sz="2000" dirty="0">
              <a:effectLst/>
            </a:endParaRPr>
          </a:p>
        </p:txBody>
      </p:sp>
      <p:sp>
        <p:nvSpPr>
          <p:cNvPr id="8" name="Rounded Rectangle 18">
            <a:extLst>
              <a:ext uri="{FF2B5EF4-FFF2-40B4-BE49-F238E27FC236}">
                <a16:creationId xmlns:a16="http://schemas.microsoft.com/office/drawing/2014/main" id="{78E5ABC8-5CEF-41C8-A7DE-EC8B570BD7F0}"/>
              </a:ext>
            </a:extLst>
          </p:cNvPr>
          <p:cNvSpPr/>
          <p:nvPr/>
        </p:nvSpPr>
        <p:spPr>
          <a:xfrm>
            <a:off x="493060" y="4202480"/>
            <a:ext cx="11134999" cy="9942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ГНСС-мониторинг транспортных средств активно развивается ввиду требований законодательства различных стран, поступательного развития спутниковых систем и бортовых устройств, а также благодаря разработке систем управления и мониторинга различных направлений.</a:t>
            </a:r>
            <a:endParaRPr lang="ru-RU" dirty="0">
              <a:effectLst/>
            </a:endParaRP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2D74844C-ABE6-437D-B4E4-983E99145EBB}"/>
              </a:ext>
            </a:extLst>
          </p:cNvPr>
          <p:cNvSpPr/>
          <p:nvPr/>
        </p:nvSpPr>
        <p:spPr>
          <a:xfrm>
            <a:off x="493059" y="5415148"/>
            <a:ext cx="11134999" cy="9942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Основными интересантами решения перечисленных проблем являются частные и государственные транспортные предприятия, контролирующие органы, разработчики программных продуктов в сфере позиционного мониторинга и обработки телеметрии.</a:t>
            </a:r>
            <a:endParaRPr lang="ru-RU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083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Выбранные методы, решения, подходы, стек технологий</a:t>
            </a:r>
          </a:p>
        </p:txBody>
      </p:sp>
      <p:pic>
        <p:nvPicPr>
          <p:cNvPr id="2050" name="Picture 2" descr="Figures from Hilbert's 1891 paper">
            <a:extLst>
              <a:ext uri="{FF2B5EF4-FFF2-40B4-BE49-F238E27FC236}">
                <a16:creationId xmlns:a16="http://schemas.microsoft.com/office/drawing/2014/main" id="{CD8B084D-8E98-434B-A152-5DBD8A93B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14" y="4225280"/>
            <a:ext cx="4935087" cy="1949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ACC03DD-8EF1-4214-AF3C-178AA7A98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5788" y="1096061"/>
            <a:ext cx="3549462" cy="3073315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06BEA9-80C1-441F-A62F-A898AE0B9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0440" y="3815699"/>
            <a:ext cx="2767855" cy="2735369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ED94D8A8-894B-4AE6-B636-840FA79F4905}"/>
              </a:ext>
            </a:extLst>
          </p:cNvPr>
          <p:cNvSpPr/>
          <p:nvPr/>
        </p:nvSpPr>
        <p:spPr>
          <a:xfrm>
            <a:off x="737348" y="1531142"/>
            <a:ext cx="2678205" cy="22031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>
              <a:buChar char="•"/>
            </a:pPr>
            <a:r>
              <a:rPr lang="en-US" sz="1500" dirty="0">
                <a:solidFill>
                  <a:srgbClr val="272D3A"/>
                </a:solidFill>
                <a:latin typeface="Arial"/>
              </a:rPr>
              <a:t>Google S2 Geometry – </a:t>
            </a:r>
            <a:r>
              <a:rPr lang="ru-RU" sz="1500" dirty="0">
                <a:solidFill>
                  <a:srgbClr val="272D3A"/>
                </a:solidFill>
                <a:latin typeface="Arial"/>
              </a:rPr>
              <a:t>система дискретизации земной поверхности</a:t>
            </a:r>
          </a:p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Земная поверхность разбивается на ячейки</a:t>
            </a:r>
            <a:r>
              <a:rPr lang="en-US" sz="1500" dirty="0">
                <a:solidFill>
                  <a:srgbClr val="272D3A"/>
                </a:solidFill>
                <a:latin typeface="Arial"/>
              </a:rPr>
              <a:t> </a:t>
            </a:r>
            <a:r>
              <a:rPr lang="ru-RU" sz="1500" dirty="0">
                <a:solidFill>
                  <a:srgbClr val="272D3A"/>
                </a:solidFill>
                <a:latin typeface="Arial"/>
              </a:rPr>
              <a:t>различных уровней, объединенные в иерархию</a:t>
            </a:r>
            <a:endParaRPr sz="15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983415-B577-414D-9301-C071294D126D}"/>
              </a:ext>
            </a:extLst>
          </p:cNvPr>
          <p:cNvSpPr txBox="1"/>
          <p:nvPr/>
        </p:nvSpPr>
        <p:spPr>
          <a:xfrm>
            <a:off x="550863" y="1039268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Пространственная индексация</a:t>
            </a: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7EC4046C-D314-4268-B9FD-CCC633B11431}"/>
              </a:ext>
            </a:extLst>
          </p:cNvPr>
          <p:cNvSpPr/>
          <p:nvPr/>
        </p:nvSpPr>
        <p:spPr>
          <a:xfrm>
            <a:off x="5181601" y="4259316"/>
            <a:ext cx="2678205" cy="22031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Ячейки нумеруются в порядке, заданном кривой Гильберта, которая проходит через каждую ячейку пространства единожды</a:t>
            </a:r>
          </a:p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Номер ячейки – целое 64-битное число</a:t>
            </a:r>
            <a:endParaRPr sz="15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Rounded Rectangle 18">
            <a:extLst>
              <a:ext uri="{FF2B5EF4-FFF2-40B4-BE49-F238E27FC236}">
                <a16:creationId xmlns:a16="http://schemas.microsoft.com/office/drawing/2014/main" id="{BD53F340-7F73-4B3F-AA4D-7CA6CBB6FAB3}"/>
              </a:ext>
            </a:extLst>
          </p:cNvPr>
          <p:cNvSpPr/>
          <p:nvPr/>
        </p:nvSpPr>
        <p:spPr>
          <a:xfrm>
            <a:off x="8704730" y="1096061"/>
            <a:ext cx="2793565" cy="263823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>
              <a:buChar char="•"/>
            </a:pPr>
            <a:r>
              <a:rPr lang="en-US" sz="1500" dirty="0">
                <a:solidFill>
                  <a:srgbClr val="272D3A"/>
                </a:solidFill>
                <a:latin typeface="Arial"/>
              </a:rPr>
              <a:t>S2 </a:t>
            </a:r>
            <a:r>
              <a:rPr lang="ru-RU" sz="1500" dirty="0">
                <a:solidFill>
                  <a:srgbClr val="272D3A"/>
                </a:solidFill>
                <a:latin typeface="Arial"/>
              </a:rPr>
              <a:t>позволяет разбивать пространство до ячеек размером 0.93 см2</a:t>
            </a:r>
          </a:p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Иерархическая модель и целочисленная индексация располагает к созданию пространственных индексов в памяти и СУБД</a:t>
            </a:r>
          </a:p>
        </p:txBody>
      </p:sp>
    </p:spTree>
    <p:extLst>
      <p:ext uri="{BB962C8B-B14F-4D97-AF65-F5344CB8AC3E}">
        <p14:creationId xmlns:p14="http://schemas.microsoft.com/office/powerpoint/2010/main" val="2645219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Выбранные методы, решения, подходы, стек технологий  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983415-B577-414D-9301-C071294D126D}"/>
              </a:ext>
            </a:extLst>
          </p:cNvPr>
          <p:cNvSpPr txBox="1"/>
          <p:nvPr/>
        </p:nvSpPr>
        <p:spPr>
          <a:xfrm>
            <a:off x="367098" y="1237498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Архитектурные решения</a:t>
            </a:r>
          </a:p>
        </p:txBody>
      </p:sp>
      <p:sp>
        <p:nvSpPr>
          <p:cNvPr id="13" name="Rounded Rectangle 18">
            <a:extLst>
              <a:ext uri="{FF2B5EF4-FFF2-40B4-BE49-F238E27FC236}">
                <a16:creationId xmlns:a16="http://schemas.microsoft.com/office/drawing/2014/main" id="{CDAD4F14-C87D-4629-85B5-37FC46A1219B}"/>
              </a:ext>
            </a:extLst>
          </p:cNvPr>
          <p:cNvSpPr/>
          <p:nvPr/>
        </p:nvSpPr>
        <p:spPr>
          <a:xfrm>
            <a:off x="367098" y="1838293"/>
            <a:ext cx="3246120" cy="165687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>
              <a:buChar char="•"/>
            </a:pPr>
            <a:r>
              <a:rPr lang="ru-RU" dirty="0" err="1">
                <a:solidFill>
                  <a:srgbClr val="272D3A"/>
                </a:solidFill>
                <a:latin typeface="Arial"/>
              </a:rPr>
              <a:t>Микросервисная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 архитектура</a:t>
            </a:r>
          </a:p>
          <a:p>
            <a:pPr algn="l">
              <a:buChar char="•"/>
            </a:pPr>
            <a:r>
              <a:rPr lang="ru-RU" dirty="0">
                <a:solidFill>
                  <a:srgbClr val="272D3A"/>
                </a:solidFill>
                <a:latin typeface="Arial"/>
              </a:rPr>
              <a:t>Взаимодействие через брокер сообщений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978177-A4BA-4191-BEC5-EEC1EC515A74}"/>
              </a:ext>
            </a:extLst>
          </p:cNvPr>
          <p:cNvSpPr txBox="1"/>
          <p:nvPr/>
        </p:nvSpPr>
        <p:spPr>
          <a:xfrm>
            <a:off x="4148883" y="1237498"/>
            <a:ext cx="3246120" cy="384048"/>
          </a:xfrm>
          <a:prstGeom prst="rect">
            <a:avLst/>
          </a:prstGeom>
          <a:noFill/>
        </p:spPr>
        <p:txBody>
          <a:bodyPr wrap="square" lIns="73152" tIns="73152" rIns="73152" bIns="73152">
            <a:normAutofit fontScale="92500" lnSpcReduction="10000"/>
          </a:bodyPr>
          <a:lstStyle/>
          <a:p>
            <a:pPr algn="l"/>
            <a:r>
              <a:rPr b="1" i="0" dirty="0" err="1">
                <a:solidFill>
                  <a:srgbClr val="005BAA"/>
                </a:solidFill>
                <a:latin typeface="Arial"/>
              </a:rPr>
              <a:t>Методы</a:t>
            </a:r>
            <a:r>
              <a:rPr b="1" i="0" dirty="0">
                <a:solidFill>
                  <a:srgbClr val="005BAA"/>
                </a:solidFill>
                <a:latin typeface="Arial"/>
              </a:rPr>
              <a:t> </a:t>
            </a:r>
            <a:r>
              <a:rPr b="1" i="0" dirty="0" err="1">
                <a:solidFill>
                  <a:srgbClr val="005BAA"/>
                </a:solidFill>
                <a:latin typeface="Arial"/>
              </a:rPr>
              <a:t>разработки</a:t>
            </a:r>
            <a:endParaRPr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6" name="Rounded Rectangle 20">
            <a:extLst>
              <a:ext uri="{FF2B5EF4-FFF2-40B4-BE49-F238E27FC236}">
                <a16:creationId xmlns:a16="http://schemas.microsoft.com/office/drawing/2014/main" id="{8672B486-A935-4B4C-86C2-A6733FA04A5C}"/>
              </a:ext>
            </a:extLst>
          </p:cNvPr>
          <p:cNvSpPr/>
          <p:nvPr/>
        </p:nvSpPr>
        <p:spPr>
          <a:xfrm>
            <a:off x="4148883" y="1826347"/>
            <a:ext cx="3246120" cy="1668820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Обзор аналогов</a:t>
            </a:r>
            <a:endParaRPr sz="1600" dirty="0">
              <a:solidFill>
                <a:srgbClr val="272D3A"/>
              </a:solidFill>
              <a:latin typeface="Arial"/>
            </a:endParaRPr>
          </a:p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Анализ, документирование</a:t>
            </a:r>
            <a:r>
              <a:rPr sz="1600" dirty="0">
                <a:solidFill>
                  <a:srgbClr val="272D3A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72D3A"/>
                </a:solidFill>
                <a:latin typeface="Arial"/>
              </a:rPr>
              <a:t>требований</a:t>
            </a:r>
            <a:endParaRPr sz="1600" dirty="0">
              <a:solidFill>
                <a:srgbClr val="272D3A"/>
              </a:solidFill>
              <a:latin typeface="Arial"/>
            </a:endParaRPr>
          </a:p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Проектирование БД и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API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модулей</a:t>
            </a:r>
            <a:endParaRPr sz="1600" dirty="0">
              <a:solidFill>
                <a:srgbClr val="272D3A"/>
              </a:solidFill>
              <a:latin typeface="Arial"/>
            </a:endParaRPr>
          </a:p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Компонентное описание системы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46FD9A-7BB6-4AEA-9B45-C6A0C5C6C2E4}"/>
              </a:ext>
            </a:extLst>
          </p:cNvPr>
          <p:cNvSpPr txBox="1"/>
          <p:nvPr/>
        </p:nvSpPr>
        <p:spPr>
          <a:xfrm>
            <a:off x="271181" y="3848082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Пользовательский интерфейс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56557526-D8B0-4440-8766-599695A01584}"/>
              </a:ext>
            </a:extLst>
          </p:cNvPr>
          <p:cNvSpPr/>
          <p:nvPr/>
        </p:nvSpPr>
        <p:spPr>
          <a:xfrm>
            <a:off x="329469" y="4448877"/>
            <a:ext cx="3530768" cy="175469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TypeScript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типизация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,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 экосистема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JS</a:t>
            </a:r>
            <a:endParaRPr lang="ru-RU" sz="16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Vue.js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– актуальность, компонентный подход</a:t>
            </a:r>
          </a:p>
          <a:p>
            <a:pPr algn="l"/>
            <a:r>
              <a:rPr lang="en-US" sz="1600" dirty="0" err="1">
                <a:solidFill>
                  <a:srgbClr val="272D3A"/>
                </a:solidFill>
                <a:latin typeface="Arial"/>
              </a:rPr>
              <a:t>Vite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поддержка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Vue,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экосистема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Node.js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2C76D5-6D6E-472D-A684-B728842820AE}"/>
              </a:ext>
            </a:extLst>
          </p:cNvPr>
          <p:cNvSpPr txBox="1"/>
          <p:nvPr/>
        </p:nvSpPr>
        <p:spPr>
          <a:xfrm>
            <a:off x="4148883" y="3862798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Серверные технологии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0" name="Rounded Rectangle 18">
            <a:extLst>
              <a:ext uri="{FF2B5EF4-FFF2-40B4-BE49-F238E27FC236}">
                <a16:creationId xmlns:a16="http://schemas.microsoft.com/office/drawing/2014/main" id="{954EAC16-B3E5-4EDC-8D4A-08904E289B84}"/>
              </a:ext>
            </a:extLst>
          </p:cNvPr>
          <p:cNvSpPr/>
          <p:nvPr/>
        </p:nvSpPr>
        <p:spPr>
          <a:xfrm>
            <a:off x="4148883" y="4436931"/>
            <a:ext cx="3530768" cy="176664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Kotlin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удобство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(не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Java),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экосистема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JVM,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S2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библиотека</a:t>
            </a: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Gradle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поддержка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Gradle DSL</a:t>
            </a:r>
            <a:endParaRPr lang="ru-RU" sz="16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Spring Boot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популярность, скорость разработки, экосистема</a:t>
            </a:r>
            <a:endParaRPr lang="en-US"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701D4F-EB3E-4574-B311-677C14732BE5}"/>
              </a:ext>
            </a:extLst>
          </p:cNvPr>
          <p:cNvSpPr txBox="1"/>
          <p:nvPr/>
        </p:nvSpPr>
        <p:spPr>
          <a:xfrm>
            <a:off x="8026585" y="3890319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Развертывание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E288D03E-9077-418A-85E3-DBB594EC8FB3}"/>
              </a:ext>
            </a:extLst>
          </p:cNvPr>
          <p:cNvSpPr/>
          <p:nvPr/>
        </p:nvSpPr>
        <p:spPr>
          <a:xfrm>
            <a:off x="8026585" y="4436930"/>
            <a:ext cx="3530768" cy="176664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Docker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контейнеризация: изоляция, декларативность конфигураций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(Docker Compose)</a:t>
            </a: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VCS GitHub: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автоматизация развертывания с помощью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Actions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B653BA-2154-4E37-B1A5-D639C17C9FC5}"/>
              </a:ext>
            </a:extLst>
          </p:cNvPr>
          <p:cNvSpPr txBox="1"/>
          <p:nvPr/>
        </p:nvSpPr>
        <p:spPr>
          <a:xfrm>
            <a:off x="8026585" y="1231802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Хранение и обмен данными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8DC6928D-1F59-4BA3-B0E8-9BEB79541A75}"/>
              </a:ext>
            </a:extLst>
          </p:cNvPr>
          <p:cNvSpPr/>
          <p:nvPr/>
        </p:nvSpPr>
        <p:spPr>
          <a:xfrm>
            <a:off x="7930668" y="1838294"/>
            <a:ext cx="3626685" cy="1656873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Kafka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: надежность, скорость, масштабируемость</a:t>
            </a:r>
          </a:p>
          <a:p>
            <a:pPr algn="l"/>
            <a:r>
              <a:rPr lang="en-US" sz="1600" dirty="0" err="1">
                <a:solidFill>
                  <a:srgbClr val="272D3A"/>
                </a:solidFill>
                <a:latin typeface="Arial"/>
              </a:rPr>
              <a:t>PostgreSql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: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популярность, расширения для работы с </a:t>
            </a:r>
            <a:r>
              <a:rPr lang="ru-RU" sz="1600" dirty="0" err="1">
                <a:solidFill>
                  <a:srgbClr val="272D3A"/>
                </a:solidFill>
                <a:latin typeface="Arial"/>
              </a:rPr>
              <a:t>геоданными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(</a:t>
            </a:r>
            <a:r>
              <a:rPr lang="en-US" sz="1600" dirty="0" err="1">
                <a:solidFill>
                  <a:srgbClr val="272D3A"/>
                </a:solidFill>
                <a:latin typeface="Arial"/>
              </a:rPr>
              <a:t>PostGIS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)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1840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решения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8A0C5-AC25-409F-BC62-48BE3E108B49}"/>
              </a:ext>
            </a:extLst>
          </p:cNvPr>
          <p:cNvSpPr txBox="1"/>
          <p:nvPr/>
        </p:nvSpPr>
        <p:spPr>
          <a:xfrm>
            <a:off x="550863" y="1039268"/>
            <a:ext cx="366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005BA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Взаимодействие компонентов</a:t>
            </a:r>
          </a:p>
        </p:txBody>
      </p:sp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1D60396F-54DC-4B6C-B099-23F4746A9D95}"/>
              </a:ext>
            </a:extLst>
          </p:cNvPr>
          <p:cNvSpPr/>
          <p:nvPr/>
        </p:nvSpPr>
        <p:spPr>
          <a:xfrm>
            <a:off x="152400" y="1568824"/>
            <a:ext cx="3110753" cy="464811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Решение – </a:t>
            </a:r>
            <a:r>
              <a:rPr kumimoji="0" lang="ru-RU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микросервисная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система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272D3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Поток телеметрии: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.Приемник данных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Брокер сообщений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272D3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Потребители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272D3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Пользовательские и интеграционные запросы приходят на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API Gateway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272D3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36CAD79-2BBB-4AAD-AD04-490236A608B6}"/>
              </a:ext>
            </a:extLst>
          </p:cNvPr>
          <p:cNvSpPr/>
          <p:nvPr/>
        </p:nvSpPr>
        <p:spPr>
          <a:xfrm>
            <a:off x="4187571" y="1411083"/>
            <a:ext cx="1734671" cy="81736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Пользователь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B653E18-B8C9-4001-B2D9-67F78B29FC2E}"/>
              </a:ext>
            </a:extLst>
          </p:cNvPr>
          <p:cNvSpPr/>
          <p:nvPr/>
        </p:nvSpPr>
        <p:spPr>
          <a:xfrm>
            <a:off x="4187571" y="2441242"/>
            <a:ext cx="1734670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Веб-клиент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8AA0E6D-6FD7-4D96-A9CC-95CD39B053F5}"/>
              </a:ext>
            </a:extLst>
          </p:cNvPr>
          <p:cNvSpPr/>
          <p:nvPr/>
        </p:nvSpPr>
        <p:spPr>
          <a:xfrm>
            <a:off x="4187570" y="3447611"/>
            <a:ext cx="1734671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API Gateway</a:t>
            </a: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3BF7F3C-7D3A-416A-9D7F-D988E2C09F5F}"/>
              </a:ext>
            </a:extLst>
          </p:cNvPr>
          <p:cNvSpPr/>
          <p:nvPr/>
        </p:nvSpPr>
        <p:spPr>
          <a:xfrm>
            <a:off x="3534203" y="4666779"/>
            <a:ext cx="2023914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Пространственно-временной поиск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364DC6E-8633-47B7-BD6D-21559693C0E9}"/>
              </a:ext>
            </a:extLst>
          </p:cNvPr>
          <p:cNvSpPr/>
          <p:nvPr/>
        </p:nvSpPr>
        <p:spPr>
          <a:xfrm>
            <a:off x="6096000" y="4666779"/>
            <a:ext cx="2023914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Сохранение телеметрии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B2142BF1-BE1F-41B5-B94F-0BBD3CD91817}"/>
              </a:ext>
            </a:extLst>
          </p:cNvPr>
          <p:cNvSpPr/>
          <p:nvPr/>
        </p:nvSpPr>
        <p:spPr>
          <a:xfrm>
            <a:off x="8657797" y="4658191"/>
            <a:ext cx="2023914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Зональное отслеживание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677B0DF-5BC2-435E-ADF7-8E0F54888F5F}"/>
              </a:ext>
            </a:extLst>
          </p:cNvPr>
          <p:cNvSpPr/>
          <p:nvPr/>
        </p:nvSpPr>
        <p:spPr>
          <a:xfrm>
            <a:off x="6240621" y="5707925"/>
            <a:ext cx="1734671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PostgreSQL</a:t>
            </a: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74DCB33-1374-4FF9-AA22-60F5AF594D30}"/>
              </a:ext>
            </a:extLst>
          </p:cNvPr>
          <p:cNvSpPr/>
          <p:nvPr/>
        </p:nvSpPr>
        <p:spPr>
          <a:xfrm>
            <a:off x="6579567" y="3447611"/>
            <a:ext cx="1734671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Redis</a:t>
            </a: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2A1DE57D-BD2E-4763-B3A0-B7735B593C73}"/>
              </a:ext>
            </a:extLst>
          </p:cNvPr>
          <p:cNvSpPr/>
          <p:nvPr/>
        </p:nvSpPr>
        <p:spPr>
          <a:xfrm>
            <a:off x="9140922" y="3520045"/>
            <a:ext cx="1734671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Kafka</a:t>
            </a: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4B6077BB-6D45-4466-B470-AAB5891FCC72}"/>
              </a:ext>
            </a:extLst>
          </p:cNvPr>
          <p:cNvSpPr/>
          <p:nvPr/>
        </p:nvSpPr>
        <p:spPr>
          <a:xfrm>
            <a:off x="9140922" y="2449068"/>
            <a:ext cx="1734671" cy="8173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Приёмник телеметрии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F4DE42AD-7255-4193-8BAB-4FF7045CD1DB}"/>
              </a:ext>
            </a:extLst>
          </p:cNvPr>
          <p:cNvSpPr/>
          <p:nvPr/>
        </p:nvSpPr>
        <p:spPr>
          <a:xfrm>
            <a:off x="9140922" y="1378091"/>
            <a:ext cx="1734671" cy="81736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Бортовые устройства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B87A67FB-FAA3-49DE-8DFF-A5AC9C617CBC}"/>
              </a:ext>
            </a:extLst>
          </p:cNvPr>
          <p:cNvCxnSpPr>
            <a:stCxn id="3" idx="2"/>
            <a:endCxn id="22" idx="0"/>
          </p:cNvCxnSpPr>
          <p:nvPr/>
        </p:nvCxnSpPr>
        <p:spPr>
          <a:xfrm flipH="1">
            <a:off x="5054906" y="2228443"/>
            <a:ext cx="1" cy="212799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E990142A-522A-4EF3-9D90-BBF128E00024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>
            <a:off x="5054906" y="3258602"/>
            <a:ext cx="0" cy="189009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Соединитель: уступ 44">
            <a:extLst>
              <a:ext uri="{FF2B5EF4-FFF2-40B4-BE49-F238E27FC236}">
                <a16:creationId xmlns:a16="http://schemas.microsoft.com/office/drawing/2014/main" id="{E4DD9B4C-FA66-47C7-A9B9-8B0571216F5F}"/>
              </a:ext>
            </a:extLst>
          </p:cNvPr>
          <p:cNvCxnSpPr>
            <a:stCxn id="28" idx="1"/>
          </p:cNvCxnSpPr>
          <p:nvPr/>
        </p:nvCxnSpPr>
        <p:spPr>
          <a:xfrm rot="10800000" flipV="1">
            <a:off x="3753294" y="3856291"/>
            <a:ext cx="434277" cy="801900"/>
          </a:xfrm>
          <a:prstGeom prst="bentConnector2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: уступ 48">
            <a:extLst>
              <a:ext uri="{FF2B5EF4-FFF2-40B4-BE49-F238E27FC236}">
                <a16:creationId xmlns:a16="http://schemas.microsoft.com/office/drawing/2014/main" id="{64B96C48-7A46-40E7-8EB5-B9CA120584A5}"/>
              </a:ext>
            </a:extLst>
          </p:cNvPr>
          <p:cNvCxnSpPr>
            <a:stCxn id="30" idx="2"/>
            <a:endCxn id="33" idx="1"/>
          </p:cNvCxnSpPr>
          <p:nvPr/>
        </p:nvCxnSpPr>
        <p:spPr>
          <a:xfrm rot="16200000" flipH="1">
            <a:off x="5077157" y="4953141"/>
            <a:ext cx="632466" cy="1694461"/>
          </a:xfrm>
          <a:prstGeom prst="bentConnector2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Соединитель: уступ 57">
            <a:extLst>
              <a:ext uri="{FF2B5EF4-FFF2-40B4-BE49-F238E27FC236}">
                <a16:creationId xmlns:a16="http://schemas.microsoft.com/office/drawing/2014/main" id="{BBEDBEBC-6B4C-425E-9C3B-A41ABE845330}"/>
              </a:ext>
            </a:extLst>
          </p:cNvPr>
          <p:cNvCxnSpPr>
            <a:stCxn id="28" idx="2"/>
          </p:cNvCxnSpPr>
          <p:nvPr/>
        </p:nvCxnSpPr>
        <p:spPr>
          <a:xfrm rot="16200000" flipH="1">
            <a:off x="5297892" y="4021984"/>
            <a:ext cx="232601" cy="718573"/>
          </a:xfrm>
          <a:prstGeom prst="bentConnector2">
            <a:avLst/>
          </a:prstGeom>
          <a:ln w="317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Соединитель: уступ 59">
            <a:extLst>
              <a:ext uri="{FF2B5EF4-FFF2-40B4-BE49-F238E27FC236}">
                <a16:creationId xmlns:a16="http://schemas.microsoft.com/office/drawing/2014/main" id="{28B5EBE8-EDCC-4EB1-8D02-2DC557C1945D}"/>
              </a:ext>
            </a:extLst>
          </p:cNvPr>
          <p:cNvCxnSpPr>
            <a:endCxn id="31" idx="1"/>
          </p:cNvCxnSpPr>
          <p:nvPr/>
        </p:nvCxnSpPr>
        <p:spPr>
          <a:xfrm rot="16200000" flipH="1">
            <a:off x="5635497" y="4614956"/>
            <a:ext cx="577888" cy="343117"/>
          </a:xfrm>
          <a:prstGeom prst="bentConnector2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2908EF96-461E-479C-98D4-68BF7CDA6534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>
            <a:off x="7107957" y="5484139"/>
            <a:ext cx="0" cy="223786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Соединитель: уступ 63">
            <a:extLst>
              <a:ext uri="{FF2B5EF4-FFF2-40B4-BE49-F238E27FC236}">
                <a16:creationId xmlns:a16="http://schemas.microsoft.com/office/drawing/2014/main" id="{97FF15E0-B481-4407-9C1C-169FD52FFB9A}"/>
              </a:ext>
            </a:extLst>
          </p:cNvPr>
          <p:cNvCxnSpPr>
            <a:stCxn id="32" idx="2"/>
            <a:endCxn id="33" idx="3"/>
          </p:cNvCxnSpPr>
          <p:nvPr/>
        </p:nvCxnSpPr>
        <p:spPr>
          <a:xfrm rot="5400000">
            <a:off x="8501996" y="4948847"/>
            <a:ext cx="641054" cy="1694462"/>
          </a:xfrm>
          <a:prstGeom prst="bentConnector2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65">
            <a:extLst>
              <a:ext uri="{FF2B5EF4-FFF2-40B4-BE49-F238E27FC236}">
                <a16:creationId xmlns:a16="http://schemas.microsoft.com/office/drawing/2014/main" id="{B18148D9-E9B9-4D24-B323-7D369798B2FC}"/>
              </a:ext>
            </a:extLst>
          </p:cNvPr>
          <p:cNvCxnSpPr>
            <a:stCxn id="37" idx="2"/>
            <a:endCxn id="36" idx="0"/>
          </p:cNvCxnSpPr>
          <p:nvPr/>
        </p:nvCxnSpPr>
        <p:spPr>
          <a:xfrm>
            <a:off x="10008258" y="2195451"/>
            <a:ext cx="0" cy="25361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>
            <a:extLst>
              <a:ext uri="{FF2B5EF4-FFF2-40B4-BE49-F238E27FC236}">
                <a16:creationId xmlns:a16="http://schemas.microsoft.com/office/drawing/2014/main" id="{524367C1-CADE-43B5-B034-D0184C941F52}"/>
              </a:ext>
            </a:extLst>
          </p:cNvPr>
          <p:cNvCxnSpPr>
            <a:stCxn id="36" idx="2"/>
            <a:endCxn id="35" idx="0"/>
          </p:cNvCxnSpPr>
          <p:nvPr/>
        </p:nvCxnSpPr>
        <p:spPr>
          <a:xfrm>
            <a:off x="10008258" y="3266428"/>
            <a:ext cx="0" cy="25361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Соединитель: уступ 71">
            <a:extLst>
              <a:ext uri="{FF2B5EF4-FFF2-40B4-BE49-F238E27FC236}">
                <a16:creationId xmlns:a16="http://schemas.microsoft.com/office/drawing/2014/main" id="{B1C9292A-583F-4632-8B9B-FAC2F528B49F}"/>
              </a:ext>
            </a:extLst>
          </p:cNvPr>
          <p:cNvCxnSpPr>
            <a:stCxn id="35" idx="3"/>
            <a:endCxn id="32" idx="3"/>
          </p:cNvCxnSpPr>
          <p:nvPr/>
        </p:nvCxnSpPr>
        <p:spPr>
          <a:xfrm flipH="1">
            <a:off x="10681711" y="3928725"/>
            <a:ext cx="193882" cy="1138146"/>
          </a:xfrm>
          <a:prstGeom prst="bentConnector3">
            <a:avLst>
              <a:gd name="adj1" fmla="val -216619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>
            <a:extLst>
              <a:ext uri="{FF2B5EF4-FFF2-40B4-BE49-F238E27FC236}">
                <a16:creationId xmlns:a16="http://schemas.microsoft.com/office/drawing/2014/main" id="{034986AF-5E1A-4530-A46C-8C86C9DD52AB}"/>
              </a:ext>
            </a:extLst>
          </p:cNvPr>
          <p:cNvCxnSpPr>
            <a:stCxn id="28" idx="3"/>
            <a:endCxn id="34" idx="1"/>
          </p:cNvCxnSpPr>
          <p:nvPr/>
        </p:nvCxnSpPr>
        <p:spPr>
          <a:xfrm>
            <a:off x="5922241" y="3856291"/>
            <a:ext cx="657326" cy="0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Соединитель: уступ 78">
            <a:extLst>
              <a:ext uri="{FF2B5EF4-FFF2-40B4-BE49-F238E27FC236}">
                <a16:creationId xmlns:a16="http://schemas.microsoft.com/office/drawing/2014/main" id="{7509E080-3FFE-4ACB-A09D-0BBFAFF31D58}"/>
              </a:ext>
            </a:extLst>
          </p:cNvPr>
          <p:cNvCxnSpPr/>
          <p:nvPr/>
        </p:nvCxnSpPr>
        <p:spPr>
          <a:xfrm>
            <a:off x="5922242" y="4157330"/>
            <a:ext cx="1185714" cy="340240"/>
          </a:xfrm>
          <a:prstGeom prst="bentConnector3">
            <a:avLst>
              <a:gd name="adj1" fmla="val 23098"/>
            </a:avLst>
          </a:prstGeom>
          <a:ln w="317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Прямая соединительная линия 92">
            <a:extLst>
              <a:ext uri="{FF2B5EF4-FFF2-40B4-BE49-F238E27FC236}">
                <a16:creationId xmlns:a16="http://schemas.microsoft.com/office/drawing/2014/main" id="{6912E718-CEEA-4C7D-A8A1-1A7E71B7E9AB}"/>
              </a:ext>
            </a:extLst>
          </p:cNvPr>
          <p:cNvCxnSpPr/>
          <p:nvPr/>
        </p:nvCxnSpPr>
        <p:spPr>
          <a:xfrm>
            <a:off x="7075636" y="4497571"/>
            <a:ext cx="1714567" cy="0"/>
          </a:xfrm>
          <a:prstGeom prst="line">
            <a:avLst/>
          </a:prstGeom>
          <a:ln w="317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Прямая со стрелкой 94">
            <a:extLst>
              <a:ext uri="{FF2B5EF4-FFF2-40B4-BE49-F238E27FC236}">
                <a16:creationId xmlns:a16="http://schemas.microsoft.com/office/drawing/2014/main" id="{EE91F2FB-757A-4C26-86A3-970B2861B9AD}"/>
              </a:ext>
            </a:extLst>
          </p:cNvPr>
          <p:cNvCxnSpPr/>
          <p:nvPr/>
        </p:nvCxnSpPr>
        <p:spPr>
          <a:xfrm>
            <a:off x="8790203" y="4497570"/>
            <a:ext cx="0" cy="160621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 стрелкой 96">
            <a:extLst>
              <a:ext uri="{FF2B5EF4-FFF2-40B4-BE49-F238E27FC236}">
                <a16:creationId xmlns:a16="http://schemas.microsoft.com/office/drawing/2014/main" id="{29152922-28AC-4A1D-B112-B649AA4A1B6C}"/>
              </a:ext>
            </a:extLst>
          </p:cNvPr>
          <p:cNvCxnSpPr>
            <a:stCxn id="31" idx="0"/>
          </p:cNvCxnSpPr>
          <p:nvPr/>
        </p:nvCxnSpPr>
        <p:spPr>
          <a:xfrm flipH="1" flipV="1">
            <a:off x="7107956" y="4264971"/>
            <a:ext cx="1" cy="401808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Соединитель: уступ 98">
            <a:extLst>
              <a:ext uri="{FF2B5EF4-FFF2-40B4-BE49-F238E27FC236}">
                <a16:creationId xmlns:a16="http://schemas.microsoft.com/office/drawing/2014/main" id="{08E23A2F-4E6E-474F-A56F-AFD65B82C57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248425" y="3922103"/>
            <a:ext cx="801900" cy="670274"/>
          </a:xfrm>
          <a:prstGeom prst="bentConnector2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Соединитель: уступ 100">
            <a:extLst>
              <a:ext uri="{FF2B5EF4-FFF2-40B4-BE49-F238E27FC236}">
                <a16:creationId xmlns:a16="http://schemas.microsoft.com/office/drawing/2014/main" id="{4E7AC0C2-CE3D-4E6E-9256-E4F29DB91C5F}"/>
              </a:ext>
            </a:extLst>
          </p:cNvPr>
          <p:cNvCxnSpPr>
            <a:endCxn id="31" idx="3"/>
          </p:cNvCxnSpPr>
          <p:nvPr/>
        </p:nvCxnSpPr>
        <p:spPr>
          <a:xfrm rot="10800000" flipV="1">
            <a:off x="8119914" y="4157329"/>
            <a:ext cx="1021008" cy="918129"/>
          </a:xfrm>
          <a:prstGeom prst="bentConnector3">
            <a:avLst>
              <a:gd name="adj1" fmla="val 70828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496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решения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8A0C5-AC25-409F-BC62-48BE3E108B49}"/>
              </a:ext>
            </a:extLst>
          </p:cNvPr>
          <p:cNvSpPr txBox="1"/>
          <p:nvPr/>
        </p:nvSpPr>
        <p:spPr>
          <a:xfrm>
            <a:off x="3210416" y="993978"/>
            <a:ext cx="58499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Пространственно-временной поиск</a:t>
            </a:r>
            <a:r>
              <a:rPr lang="en-US" b="1" dirty="0">
                <a:solidFill>
                  <a:srgbClr val="005BAA"/>
                </a:solidFill>
                <a:latin typeface="Arial"/>
              </a:rPr>
              <a:t> </a:t>
            </a:r>
            <a:r>
              <a:rPr lang="ru-RU" b="1" dirty="0">
                <a:solidFill>
                  <a:srgbClr val="005BAA"/>
                </a:solidFill>
                <a:latin typeface="Arial"/>
              </a:rPr>
              <a:t>на базе </a:t>
            </a:r>
            <a:r>
              <a:rPr lang="en-US" b="1" dirty="0">
                <a:solidFill>
                  <a:srgbClr val="005BAA"/>
                </a:solidFill>
                <a:latin typeface="Arial"/>
              </a:rPr>
              <a:t>S2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1D60396F-54DC-4B6C-B099-23F4746A9D95}"/>
              </a:ext>
            </a:extLst>
          </p:cNvPr>
          <p:cNvSpPr/>
          <p:nvPr/>
        </p:nvSpPr>
        <p:spPr>
          <a:xfrm>
            <a:off x="157524" y="1733394"/>
            <a:ext cx="2123349" cy="1616701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Составной индекс по  времени и пространству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875733F-214C-4CD3-AC43-480F00AF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7254" y="1401526"/>
            <a:ext cx="2416455" cy="2121765"/>
          </a:xfrm>
          <a:prstGeom prst="roundRect">
            <a:avLst/>
          </a:prstGeom>
        </p:spPr>
      </p:pic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12534149-24CC-4323-8FFF-09CDE09670EF}"/>
              </a:ext>
            </a:extLst>
          </p:cNvPr>
          <p:cNvSpPr/>
          <p:nvPr/>
        </p:nvSpPr>
        <p:spPr>
          <a:xfrm>
            <a:off x="5087002" y="2299963"/>
            <a:ext cx="2165444" cy="8975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(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59,9729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8, 30,45088)</a:t>
            </a:r>
          </a:p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2026-05-09T09:13:35Z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2F8F92A7-63A5-4344-81B0-7ABFB69226C9}"/>
              </a:ext>
            </a:extLst>
          </p:cNvPr>
          <p:cNvSpPr/>
          <p:nvPr/>
        </p:nvSpPr>
        <p:spPr>
          <a:xfrm>
            <a:off x="8117076" y="2317365"/>
            <a:ext cx="3752197" cy="8975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S2: 5086308267794104320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(16 уровень)</a:t>
            </a:r>
            <a:endParaRPr lang="en-US" sz="14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2026-05-09T09:10:00Z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(обрезка до 5 мин)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Стрелка: вправо 11">
            <a:extLst>
              <a:ext uri="{FF2B5EF4-FFF2-40B4-BE49-F238E27FC236}">
                <a16:creationId xmlns:a16="http://schemas.microsoft.com/office/drawing/2014/main" id="{EE5364E1-C049-4687-A658-BC93DBAADF3D}"/>
              </a:ext>
            </a:extLst>
          </p:cNvPr>
          <p:cNvSpPr/>
          <p:nvPr/>
        </p:nvSpPr>
        <p:spPr>
          <a:xfrm>
            <a:off x="7530187" y="2690923"/>
            <a:ext cx="424566" cy="211235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35AB3F-B64C-449E-BF18-A67305758763}"/>
              </a:ext>
            </a:extLst>
          </p:cNvPr>
          <p:cNvSpPr txBox="1"/>
          <p:nvPr/>
        </p:nvSpPr>
        <p:spPr>
          <a:xfrm>
            <a:off x="5153081" y="1870561"/>
            <a:ext cx="1634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Показатели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6F539D-145A-40A2-838B-DA74626026DC}"/>
              </a:ext>
            </a:extLst>
          </p:cNvPr>
          <p:cNvSpPr txBox="1"/>
          <p:nvPr/>
        </p:nvSpPr>
        <p:spPr>
          <a:xfrm>
            <a:off x="6860474" y="1873500"/>
            <a:ext cx="200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Дискретизация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54C195-F125-4156-8913-743FC3E7509F}"/>
              </a:ext>
            </a:extLst>
          </p:cNvPr>
          <p:cNvSpPr txBox="1"/>
          <p:nvPr/>
        </p:nvSpPr>
        <p:spPr>
          <a:xfrm>
            <a:off x="9009062" y="1892873"/>
            <a:ext cx="21654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В базе данных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3CDC3E9-5697-42D2-8C12-134CA2BCE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35" y="4343980"/>
            <a:ext cx="2000529" cy="2314898"/>
          </a:xfrm>
          <a:prstGeom prst="round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8BC05D-FD30-4295-AB88-9074AC1287CC}"/>
              </a:ext>
            </a:extLst>
          </p:cNvPr>
          <p:cNvSpPr txBox="1"/>
          <p:nvPr/>
        </p:nvSpPr>
        <p:spPr>
          <a:xfrm>
            <a:off x="5149345" y="3596783"/>
            <a:ext cx="3257049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Поиск телеметрии</a:t>
            </a: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6FFB67C8-C50D-48C4-9E8A-E58980540CD0}"/>
              </a:ext>
            </a:extLst>
          </p:cNvPr>
          <p:cNvSpPr/>
          <p:nvPr/>
        </p:nvSpPr>
        <p:spPr>
          <a:xfrm>
            <a:off x="2507254" y="4664045"/>
            <a:ext cx="4074569" cy="13734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r>
              <a:rPr lang="en-US" sz="1600" dirty="0">
                <a:solidFill>
                  <a:srgbClr val="272D3A"/>
                </a:solidFill>
                <a:latin typeface="Arial"/>
              </a:rPr>
              <a:t>S2: 5086308267525668864 (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уровень 15) </a:t>
            </a:r>
          </a:p>
          <a:p>
            <a:br>
              <a:rPr lang="ru-RU" sz="1600" dirty="0">
                <a:solidFill>
                  <a:srgbClr val="272D3A"/>
                </a:solidFill>
                <a:latin typeface="Arial"/>
              </a:rPr>
            </a:br>
            <a:r>
              <a:rPr lang="ru-RU" sz="1600" dirty="0">
                <a:solidFill>
                  <a:srgbClr val="272D3A"/>
                </a:solidFill>
                <a:latin typeface="Arial"/>
              </a:rPr>
              <a:t>Время: интервал</a:t>
            </a:r>
            <a:br>
              <a:rPr lang="ru-RU" sz="1600" dirty="0">
                <a:solidFill>
                  <a:srgbClr val="272D3A"/>
                </a:solidFill>
                <a:latin typeface="Arial"/>
              </a:rPr>
            </a:br>
            <a:r>
              <a:rPr lang="en-US" sz="1600" dirty="0">
                <a:solidFill>
                  <a:srgbClr val="272D3A"/>
                </a:solidFill>
                <a:latin typeface="Arial"/>
              </a:rPr>
              <a:t>[2026-05-09T09: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0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0:00Z,2026-05-09T09: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20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:00Z]</a:t>
            </a:r>
          </a:p>
          <a:p>
            <a:pPr algn="l"/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E26ED0-0B14-480A-A205-55613399BDFC}"/>
              </a:ext>
            </a:extLst>
          </p:cNvPr>
          <p:cNvSpPr txBox="1"/>
          <p:nvPr/>
        </p:nvSpPr>
        <p:spPr>
          <a:xfrm>
            <a:off x="2938803" y="3936259"/>
            <a:ext cx="29411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Поисковый запрос</a:t>
            </a:r>
            <a:br>
              <a:rPr lang="ru-RU" sz="1800" b="1" i="0" dirty="0">
                <a:solidFill>
                  <a:srgbClr val="005BAA"/>
                </a:solidFill>
                <a:latin typeface="Arial"/>
              </a:rPr>
            </a:br>
            <a:r>
              <a:rPr lang="ru-RU" sz="1800" b="1" i="0" dirty="0">
                <a:solidFill>
                  <a:srgbClr val="005BAA"/>
                </a:solidFill>
                <a:latin typeface="Arial"/>
              </a:rPr>
              <a:t>(пространство и время)</a:t>
            </a:r>
          </a:p>
        </p:txBody>
      </p:sp>
      <p:sp>
        <p:nvSpPr>
          <p:cNvPr id="26" name="Стрелка: вправо 25">
            <a:extLst>
              <a:ext uri="{FF2B5EF4-FFF2-40B4-BE49-F238E27FC236}">
                <a16:creationId xmlns:a16="http://schemas.microsoft.com/office/drawing/2014/main" id="{966EF5BA-6D24-4F36-BD21-2395F6CACD02}"/>
              </a:ext>
            </a:extLst>
          </p:cNvPr>
          <p:cNvSpPr/>
          <p:nvPr/>
        </p:nvSpPr>
        <p:spPr>
          <a:xfrm>
            <a:off x="6644576" y="5219281"/>
            <a:ext cx="755510" cy="242787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27" name="Rounded Rectangle 18">
            <a:extLst>
              <a:ext uri="{FF2B5EF4-FFF2-40B4-BE49-F238E27FC236}">
                <a16:creationId xmlns:a16="http://schemas.microsoft.com/office/drawing/2014/main" id="{0EF6DE5C-66F9-4237-A567-049BCA362542}"/>
              </a:ext>
            </a:extLst>
          </p:cNvPr>
          <p:cNvSpPr/>
          <p:nvPr/>
        </p:nvSpPr>
        <p:spPr>
          <a:xfrm>
            <a:off x="7462840" y="4653961"/>
            <a:ext cx="4406434" cy="13734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r>
              <a:rPr lang="en-US" sz="1400" dirty="0">
                <a:solidFill>
                  <a:srgbClr val="272D3A"/>
                </a:solidFill>
                <a:latin typeface="Arial"/>
              </a:rPr>
              <a:t>S2: 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интервал 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[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5086308267525668864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2,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5086308269673152512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]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(уровень 16)</a:t>
            </a:r>
          </a:p>
          <a:p>
            <a:br>
              <a:rPr lang="ru-RU" sz="1400" dirty="0">
                <a:solidFill>
                  <a:srgbClr val="272D3A"/>
                </a:solidFill>
                <a:latin typeface="Arial"/>
              </a:rPr>
            </a:br>
            <a:r>
              <a:rPr lang="ru-RU" sz="1400" dirty="0">
                <a:solidFill>
                  <a:srgbClr val="272D3A"/>
                </a:solidFill>
                <a:latin typeface="Arial"/>
              </a:rPr>
              <a:t>Время: интервал</a:t>
            </a:r>
            <a:br>
              <a:rPr lang="ru-RU" sz="1400" dirty="0">
                <a:solidFill>
                  <a:srgbClr val="272D3A"/>
                </a:solidFill>
                <a:latin typeface="Arial"/>
              </a:rPr>
            </a:br>
            <a:r>
              <a:rPr lang="en-US" sz="1400" dirty="0">
                <a:solidFill>
                  <a:srgbClr val="272D3A"/>
                </a:solidFill>
                <a:latin typeface="Arial"/>
              </a:rPr>
              <a:t>[2026-05-09T09: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0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0:00Z,2026-05-09T09: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20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:00Z]</a:t>
            </a:r>
          </a:p>
          <a:p>
            <a:pPr algn="l"/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7CA4E8-50F5-42FA-9A9B-32610F2F66AD}"/>
              </a:ext>
            </a:extLst>
          </p:cNvPr>
          <p:cNvSpPr txBox="1"/>
          <p:nvPr/>
        </p:nvSpPr>
        <p:spPr>
          <a:xfrm>
            <a:off x="5890196" y="3982290"/>
            <a:ext cx="2004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5BAA"/>
                </a:solidFill>
                <a:latin typeface="Arial"/>
              </a:rPr>
              <a:t>S2-</a:t>
            </a:r>
            <a:r>
              <a:rPr lang="ru-RU" b="1" dirty="0">
                <a:solidFill>
                  <a:srgbClr val="005BAA"/>
                </a:solidFill>
                <a:latin typeface="Arial"/>
              </a:rPr>
              <a:t>индексация (16 уровень)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502DED-9C2E-4687-B21D-0CD27A7EEC56}"/>
              </a:ext>
            </a:extLst>
          </p:cNvPr>
          <p:cNvSpPr txBox="1"/>
          <p:nvPr/>
        </p:nvSpPr>
        <p:spPr>
          <a:xfrm>
            <a:off x="7710278" y="3968957"/>
            <a:ext cx="3082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Итоговые условия для запроса в базе данных</a:t>
            </a:r>
          </a:p>
        </p:txBody>
      </p:sp>
      <p:sp>
        <p:nvSpPr>
          <p:cNvPr id="30" name="Rounded Rectangle 18">
            <a:extLst>
              <a:ext uri="{FF2B5EF4-FFF2-40B4-BE49-F238E27FC236}">
                <a16:creationId xmlns:a16="http://schemas.microsoft.com/office/drawing/2014/main" id="{60EF5499-CC3F-4E87-BA5A-EF567C4BD144}"/>
              </a:ext>
            </a:extLst>
          </p:cNvPr>
          <p:cNvSpPr/>
          <p:nvPr/>
        </p:nvSpPr>
        <p:spPr>
          <a:xfrm>
            <a:off x="2507255" y="6154880"/>
            <a:ext cx="8761380" cy="48578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Мощность индекса: В СПб </a:t>
            </a:r>
            <a:r>
              <a:rPr lang="en-US" dirty="0">
                <a:solidFill>
                  <a:srgbClr val="272D3A"/>
                </a:solidFill>
                <a:latin typeface="Arial"/>
              </a:rPr>
              <a:t>~75000 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зон </a:t>
            </a:r>
            <a:r>
              <a:rPr lang="en-US" dirty="0">
                <a:solidFill>
                  <a:srgbClr val="272D3A"/>
                </a:solidFill>
                <a:latin typeface="Arial"/>
              </a:rPr>
              <a:t>S2; 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в 24 часах 288</a:t>
            </a:r>
            <a:r>
              <a:rPr lang="en-US" dirty="0">
                <a:solidFill>
                  <a:srgbClr val="272D3A"/>
                </a:solidFill>
                <a:latin typeface="Arial"/>
              </a:rPr>
              <a:t> 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интервалов по 5 минут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FC4DD8-1E61-4FF2-A4D2-FB339A471E5E}"/>
              </a:ext>
            </a:extLst>
          </p:cNvPr>
          <p:cNvSpPr txBox="1"/>
          <p:nvPr/>
        </p:nvSpPr>
        <p:spPr>
          <a:xfrm>
            <a:off x="5159486" y="1420241"/>
            <a:ext cx="3257049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Обработка телеметрии</a:t>
            </a:r>
          </a:p>
        </p:txBody>
      </p:sp>
    </p:spTree>
    <p:extLst>
      <p:ext uri="{BB962C8B-B14F-4D97-AF65-F5344CB8AC3E}">
        <p14:creationId xmlns:p14="http://schemas.microsoft.com/office/powerpoint/2010/main" val="346449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решения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8A0C5-AC25-409F-BC62-48BE3E108B49}"/>
              </a:ext>
            </a:extLst>
          </p:cNvPr>
          <p:cNvSpPr txBox="1"/>
          <p:nvPr/>
        </p:nvSpPr>
        <p:spPr>
          <a:xfrm>
            <a:off x="3221049" y="993978"/>
            <a:ext cx="58499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Пространственный поиск на базе </a:t>
            </a:r>
            <a:r>
              <a:rPr lang="en-US" b="1" dirty="0">
                <a:solidFill>
                  <a:srgbClr val="005BAA"/>
                </a:solidFill>
                <a:latin typeface="Arial"/>
              </a:rPr>
              <a:t>S2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B659D72-8E28-4245-A553-3E7D8D458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67" y="4162528"/>
            <a:ext cx="2885959" cy="2489284"/>
          </a:xfrm>
          <a:prstGeom prst="round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434E7A-0CAC-4F8B-A8BD-932514DC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51" y="1110208"/>
            <a:ext cx="2884979" cy="2925707"/>
          </a:xfrm>
          <a:prstGeom prst="round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F139681-480C-4228-8989-5A8FD444A937}"/>
              </a:ext>
            </a:extLst>
          </p:cNvPr>
          <p:cNvSpPr txBox="1"/>
          <p:nvPr/>
        </p:nvSpPr>
        <p:spPr>
          <a:xfrm>
            <a:off x="4065792" y="1429271"/>
            <a:ext cx="3545243" cy="78319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Заполнение зон </a:t>
            </a:r>
            <a:r>
              <a:rPr lang="en-US" sz="2000" b="1" dirty="0">
                <a:solidFill>
                  <a:srgbClr val="005BAA"/>
                </a:solidFill>
                <a:latin typeface="Arial"/>
              </a:rPr>
              <a:t>S2-</a:t>
            </a:r>
            <a:r>
              <a:rPr lang="ru-RU" sz="2000" b="1" dirty="0">
                <a:solidFill>
                  <a:srgbClr val="005BAA"/>
                </a:solidFill>
                <a:latin typeface="Arial"/>
              </a:rPr>
              <a:t>зонами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88A0F1-0E8E-4646-A973-4A9EB61BCE05}"/>
              </a:ext>
            </a:extLst>
          </p:cNvPr>
          <p:cNvSpPr txBox="1"/>
          <p:nvPr/>
        </p:nvSpPr>
        <p:spPr>
          <a:xfrm>
            <a:off x="4065792" y="2505098"/>
            <a:ext cx="3545243" cy="78319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Представление в виде </a:t>
            </a:r>
            <a:r>
              <a:rPr lang="en-US" sz="2000" b="1" dirty="0">
                <a:solidFill>
                  <a:srgbClr val="005BAA"/>
                </a:solidFill>
                <a:latin typeface="Arial"/>
              </a:rPr>
              <a:t>S2-</a:t>
            </a:r>
            <a:r>
              <a:rPr lang="ru-RU" sz="2000" b="1" dirty="0">
                <a:solidFill>
                  <a:srgbClr val="005BAA"/>
                </a:solidFill>
                <a:latin typeface="Arial"/>
              </a:rPr>
              <a:t>интервалов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C04075-461A-4C52-B9FE-02327A1FB7F2}"/>
              </a:ext>
            </a:extLst>
          </p:cNvPr>
          <p:cNvSpPr txBox="1"/>
          <p:nvPr/>
        </p:nvSpPr>
        <p:spPr>
          <a:xfrm>
            <a:off x="4062202" y="3611126"/>
            <a:ext cx="3548834" cy="1123712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i="0" dirty="0">
                <a:solidFill>
                  <a:srgbClr val="005BAA"/>
                </a:solidFill>
                <a:latin typeface="Arial"/>
              </a:rPr>
              <a:t>Слияние смежных и пересекающихся интервалов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0810B7-3223-4844-971F-E57158E8512C}"/>
              </a:ext>
            </a:extLst>
          </p:cNvPr>
          <p:cNvSpPr txBox="1"/>
          <p:nvPr/>
        </p:nvSpPr>
        <p:spPr>
          <a:xfrm>
            <a:off x="4065792" y="5057423"/>
            <a:ext cx="3545243" cy="1464231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Формирование поискового отсортированного массива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6" name="Стрелка: вниз 15">
            <a:extLst>
              <a:ext uri="{FF2B5EF4-FFF2-40B4-BE49-F238E27FC236}">
                <a16:creationId xmlns:a16="http://schemas.microsoft.com/office/drawing/2014/main" id="{BA13A3BB-0FEE-477B-B244-95FE456EE442}"/>
              </a:ext>
            </a:extLst>
          </p:cNvPr>
          <p:cNvSpPr/>
          <p:nvPr/>
        </p:nvSpPr>
        <p:spPr>
          <a:xfrm>
            <a:off x="5744283" y="2220803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6" name="Стрелка: вниз 35">
            <a:extLst>
              <a:ext uri="{FF2B5EF4-FFF2-40B4-BE49-F238E27FC236}">
                <a16:creationId xmlns:a16="http://schemas.microsoft.com/office/drawing/2014/main" id="{493958D1-2707-43BA-9683-42BD0AC918FA}"/>
              </a:ext>
            </a:extLst>
          </p:cNvPr>
          <p:cNvSpPr/>
          <p:nvPr/>
        </p:nvSpPr>
        <p:spPr>
          <a:xfrm>
            <a:off x="5744283" y="3311498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7" name="Стрелка: вниз 36">
            <a:extLst>
              <a:ext uri="{FF2B5EF4-FFF2-40B4-BE49-F238E27FC236}">
                <a16:creationId xmlns:a16="http://schemas.microsoft.com/office/drawing/2014/main" id="{0696D3EB-C5E4-4428-BC61-D16D8DB659F9}"/>
              </a:ext>
            </a:extLst>
          </p:cNvPr>
          <p:cNvSpPr/>
          <p:nvPr/>
        </p:nvSpPr>
        <p:spPr>
          <a:xfrm>
            <a:off x="5708425" y="4749227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ACF2A0-8C32-4CD5-91CA-6046B4F7FBA2}"/>
              </a:ext>
            </a:extLst>
          </p:cNvPr>
          <p:cNvSpPr txBox="1"/>
          <p:nvPr/>
        </p:nvSpPr>
        <p:spPr>
          <a:xfrm>
            <a:off x="8000399" y="1424241"/>
            <a:ext cx="1380565" cy="919401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005BAA"/>
                </a:solidFill>
                <a:latin typeface="Arial"/>
              </a:rPr>
              <a:t>S2</a:t>
            </a:r>
            <a:r>
              <a:rPr lang="ru-RU" sz="2400" b="1" dirty="0">
                <a:solidFill>
                  <a:srgbClr val="005BAA"/>
                </a:solidFill>
                <a:latin typeface="Arial"/>
              </a:rPr>
              <a:t>-ключ</a:t>
            </a:r>
            <a:endParaRPr lang="ru-RU" sz="24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7" name="Стрелка: вниз 16">
            <a:extLst>
              <a:ext uri="{FF2B5EF4-FFF2-40B4-BE49-F238E27FC236}">
                <a16:creationId xmlns:a16="http://schemas.microsoft.com/office/drawing/2014/main" id="{193D472F-8E55-46F5-8F48-C3FF7978B171}"/>
              </a:ext>
            </a:extLst>
          </p:cNvPr>
          <p:cNvSpPr/>
          <p:nvPr/>
        </p:nvSpPr>
        <p:spPr>
          <a:xfrm>
            <a:off x="8597153" y="2472609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D5789E92-5EB3-4B3F-8A21-F501DCE83A21}"/>
              </a:ext>
            </a:extLst>
          </p:cNvPr>
          <p:cNvSpPr/>
          <p:nvPr/>
        </p:nvSpPr>
        <p:spPr>
          <a:xfrm rot="10800000">
            <a:off x="10367474" y="2472609"/>
            <a:ext cx="188258" cy="272466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07D7B3-67D5-470F-B1FD-988E24DA7A85}"/>
              </a:ext>
            </a:extLst>
          </p:cNvPr>
          <p:cNvSpPr txBox="1"/>
          <p:nvPr/>
        </p:nvSpPr>
        <p:spPr>
          <a:xfrm>
            <a:off x="9770327" y="1429271"/>
            <a:ext cx="1380565" cy="900000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Текущие зоны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A50A86-F231-44FD-A5D5-312FC5303A97}"/>
              </a:ext>
            </a:extLst>
          </p:cNvPr>
          <p:cNvSpPr txBox="1"/>
          <p:nvPr/>
        </p:nvSpPr>
        <p:spPr>
          <a:xfrm>
            <a:off x="7997706" y="4669871"/>
            <a:ext cx="3545243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Варианты: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41" name="Rounded Rectangle 18">
            <a:extLst>
              <a:ext uri="{FF2B5EF4-FFF2-40B4-BE49-F238E27FC236}">
                <a16:creationId xmlns:a16="http://schemas.microsoft.com/office/drawing/2014/main" id="{0D46227B-7162-467A-AC19-867C6D7BACB6}"/>
              </a:ext>
            </a:extLst>
          </p:cNvPr>
          <p:cNvSpPr/>
          <p:nvPr/>
        </p:nvSpPr>
        <p:spPr>
          <a:xfrm>
            <a:off x="7958920" y="5140397"/>
            <a:ext cx="3545243" cy="1309627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Избыточное заполнение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Внутреннее заполнение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С дополнительной геометрической проверкой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pic>
        <p:nvPicPr>
          <p:cNvPr id="1030" name="Picture 6" descr="PlantUML Diagram">
            <a:extLst>
              <a:ext uri="{FF2B5EF4-FFF2-40B4-BE49-F238E27FC236}">
                <a16:creationId xmlns:a16="http://schemas.microsoft.com/office/drawing/2014/main" id="{E30FB679-8C06-45D8-AEBB-7CE544647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8859" y="2823117"/>
            <a:ext cx="3654089" cy="1705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41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A93BE4C-7CB2-44BE-8CC6-F6F097234861}"/>
              </a:ext>
            </a:extLst>
          </p:cNvPr>
          <p:cNvSpPr/>
          <p:nvPr/>
        </p:nvSpPr>
        <p:spPr>
          <a:xfrm>
            <a:off x="550863" y="1124559"/>
            <a:ext cx="2202970" cy="5244343"/>
          </a:xfrm>
          <a:prstGeom prst="roundRect">
            <a:avLst/>
          </a:prstGeom>
          <a:gradFill flip="none" rotWithShape="1">
            <a:gsLst>
              <a:gs pos="0">
                <a:srgbClr val="B6E4B8"/>
              </a:gs>
              <a:gs pos="75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2B041327-A20A-4913-9407-35234401A68A}"/>
              </a:ext>
            </a:extLst>
          </p:cNvPr>
          <p:cNvSpPr/>
          <p:nvPr/>
        </p:nvSpPr>
        <p:spPr>
          <a:xfrm>
            <a:off x="2897911" y="1271582"/>
            <a:ext cx="4217956" cy="4773024"/>
          </a:xfrm>
          <a:prstGeom prst="roundRect">
            <a:avLst/>
          </a:prstGeom>
          <a:gradFill flip="none" rotWithShape="1">
            <a:gsLst>
              <a:gs pos="0">
                <a:srgbClr val="B6E4B8"/>
              </a:gs>
              <a:gs pos="75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F90BE0-798E-4D93-AD99-0F2A6378E114}"/>
              </a:ext>
            </a:extLst>
          </p:cNvPr>
          <p:cNvSpPr/>
          <p:nvPr/>
        </p:nvSpPr>
        <p:spPr>
          <a:xfrm>
            <a:off x="7310268" y="1271582"/>
            <a:ext cx="4215046" cy="4773024"/>
          </a:xfrm>
          <a:prstGeom prst="roundRect">
            <a:avLst/>
          </a:prstGeom>
          <a:gradFill flip="none" rotWithShape="1">
            <a:gsLst>
              <a:gs pos="0">
                <a:srgbClr val="E0F4E1"/>
              </a:gs>
              <a:gs pos="95000">
                <a:srgbClr val="DEF2FA"/>
              </a:gs>
            </a:gsLst>
            <a:lin ang="16200000" scaled="1"/>
            <a:tileRect/>
          </a:gradFill>
          <a:ln w="15875">
            <a:solidFill>
              <a:srgbClr val="005AAC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9D33000-B5B8-479E-AFEB-7BEF90C48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86" y="2957431"/>
            <a:ext cx="1962424" cy="3286584"/>
          </a:xfrm>
          <a:prstGeom prst="roundRect">
            <a:avLst/>
          </a:prstGeom>
        </p:spPr>
      </p:pic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9E8A4F7A-BCB0-4632-A5EC-FD9CD035897A}"/>
              </a:ext>
            </a:extLst>
          </p:cNvPr>
          <p:cNvSpPr/>
          <p:nvPr/>
        </p:nvSpPr>
        <p:spPr>
          <a:xfrm>
            <a:off x="632435" y="1256231"/>
            <a:ext cx="1962424" cy="163040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algn="l"/>
            <a:r>
              <a:rPr lang="ru-RU" sz="1600" dirty="0">
                <a:solidFill>
                  <a:srgbClr val="272D3A"/>
                </a:solidFill>
                <a:latin typeface="Arial"/>
              </a:rPr>
              <a:t>Создана система, обеспечивающая процесс мониторинга транспортных средств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EFA6D75D-C076-44B8-ADF6-48C564D4F61B}"/>
              </a:ext>
            </a:extLst>
          </p:cNvPr>
          <p:cNvSpPr/>
          <p:nvPr/>
        </p:nvSpPr>
        <p:spPr>
          <a:xfrm>
            <a:off x="3210049" y="1448110"/>
            <a:ext cx="3643100" cy="103970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Позиционное отслеживание актуальных телеметрических данных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Rounded Rectangle 18">
            <a:extLst>
              <a:ext uri="{FF2B5EF4-FFF2-40B4-BE49-F238E27FC236}">
                <a16:creationId xmlns:a16="http://schemas.microsoft.com/office/drawing/2014/main" id="{291FAA3A-BCBB-4583-B16D-E8EFE3063A3F}"/>
              </a:ext>
            </a:extLst>
          </p:cNvPr>
          <p:cNvSpPr/>
          <p:nvPr/>
        </p:nvSpPr>
        <p:spPr>
          <a:xfrm>
            <a:off x="7521993" y="1448110"/>
            <a:ext cx="3544192" cy="103970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Позиционное отслеживание исторических телеметрических данных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9FC555F-AFEA-4676-9F0F-75CCB67A0DDD}"/>
              </a:ext>
            </a:extLst>
          </p:cNvPr>
          <p:cNvPicPr/>
          <p:nvPr/>
        </p:nvPicPr>
        <p:blipFill rotWithShape="1">
          <a:blip r:embed="rId3"/>
          <a:srcRect l="26954" t="10709"/>
          <a:stretch/>
        </p:blipFill>
        <p:spPr>
          <a:xfrm>
            <a:off x="3024985" y="2687227"/>
            <a:ext cx="3963808" cy="3157970"/>
          </a:xfrm>
          <a:prstGeom prst="round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B2800F1-0197-4027-B6F4-68E4563C69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156" t="15703" r="1"/>
          <a:stretch/>
        </p:blipFill>
        <p:spPr>
          <a:xfrm>
            <a:off x="7434467" y="2687226"/>
            <a:ext cx="3917455" cy="3157971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080270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скругленные противолежащие углы 15">
            <a:extLst>
              <a:ext uri="{FF2B5EF4-FFF2-40B4-BE49-F238E27FC236}">
                <a16:creationId xmlns:a16="http://schemas.microsoft.com/office/drawing/2014/main" id="{2B041327-A20A-4913-9407-35234401A68A}"/>
              </a:ext>
            </a:extLst>
          </p:cNvPr>
          <p:cNvSpPr/>
          <p:nvPr/>
        </p:nvSpPr>
        <p:spPr>
          <a:xfrm>
            <a:off x="417443" y="1035421"/>
            <a:ext cx="11430000" cy="5633736"/>
          </a:xfrm>
          <a:prstGeom prst="round2DiagRect">
            <a:avLst/>
          </a:prstGeom>
          <a:gradFill flip="none" rotWithShape="1">
            <a:gsLst>
              <a:gs pos="0">
                <a:srgbClr val="B6E4B8"/>
              </a:gs>
              <a:gs pos="75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72AFB1-5797-4602-8492-C4058267F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3" y="3622397"/>
            <a:ext cx="6139486" cy="2964853"/>
          </a:xfrm>
          <a:prstGeom prst="round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011AC4F-65E5-438D-8341-0BE331B63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122" y="1089239"/>
            <a:ext cx="6259435" cy="2479340"/>
          </a:xfrm>
          <a:prstGeom prst="roundRect">
            <a:avLst/>
          </a:prstGeom>
        </p:spPr>
      </p:pic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EFA6D75D-C076-44B8-ADF6-48C564D4F61B}"/>
              </a:ext>
            </a:extLst>
          </p:cNvPr>
          <p:cNvSpPr/>
          <p:nvPr/>
        </p:nvSpPr>
        <p:spPr>
          <a:xfrm>
            <a:off x="6962917" y="4526609"/>
            <a:ext cx="4129153" cy="115642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Пространственно-временной поиск исторических телеметрических данных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Rounded Rectangle 18">
            <a:extLst>
              <a:ext uri="{FF2B5EF4-FFF2-40B4-BE49-F238E27FC236}">
                <a16:creationId xmlns:a16="http://schemas.microsoft.com/office/drawing/2014/main" id="{291FAA3A-BCBB-4583-B16D-E8EFE3063A3F}"/>
              </a:ext>
            </a:extLst>
          </p:cNvPr>
          <p:cNvSpPr/>
          <p:nvPr/>
        </p:nvSpPr>
        <p:spPr>
          <a:xfrm>
            <a:off x="894522" y="1679914"/>
            <a:ext cx="4422913" cy="115273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Генерация событий зонального отслеживания с минимальной задержкой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7779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9AD8ACB-233B-4F5D-A462-B4EBD9301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486620"/>
              </p:ext>
            </p:extLst>
          </p:nvPr>
        </p:nvGraphicFramePr>
        <p:xfrm>
          <a:off x="3556932" y="1224793"/>
          <a:ext cx="8084205" cy="5033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5083">
                  <a:extLst>
                    <a:ext uri="{9D8B030D-6E8A-4147-A177-3AD203B41FA5}">
                      <a16:colId xmlns:a16="http://schemas.microsoft.com/office/drawing/2014/main" val="1796730915"/>
                    </a:ext>
                  </a:extLst>
                </a:gridCol>
                <a:gridCol w="5909122">
                  <a:extLst>
                    <a:ext uri="{9D8B030D-6E8A-4147-A177-3AD203B41FA5}">
                      <a16:colId xmlns:a16="http://schemas.microsoft.com/office/drawing/2014/main" val="3988056901"/>
                    </a:ext>
                  </a:extLst>
                </a:gridCol>
              </a:tblGrid>
              <a:tr h="74613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Вид тестирования</a:t>
                      </a:r>
                      <a:endParaRPr sz="18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Результаты</a:t>
                      </a:r>
                      <a:endParaRPr sz="18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529636"/>
                  </a:ext>
                </a:extLst>
              </a:tr>
              <a:tr h="121348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Автоматизированные модульные тесты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Достигнуто покрытие тестами на уровне 90% (строки)</a:t>
                      </a:r>
                      <a:br>
                        <a:rPr lang="en-US" sz="1600" b="0" dirty="0">
                          <a:solidFill>
                            <a:srgbClr val="272D3A"/>
                          </a:solidFill>
                          <a:latin typeface="Arial"/>
                        </a:rPr>
                      </a:b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Запуск тестов производится при выполнении автоматизированного развертывания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660316"/>
                  </a:ext>
                </a:extLst>
              </a:tr>
              <a:tr h="12406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Ручное интеграционное функциональное тестирование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Проведено тестирование всех функций системы, задействованы все модули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177576"/>
                  </a:ext>
                </a:extLst>
              </a:tr>
              <a:tr h="18331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Нагрузочное тестирование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Смоделирован тестовый блок телеметрических данных и передан на вход каждого из модулей</a:t>
                      </a:r>
                    </a:p>
                    <a:p>
                      <a:pPr marL="342900" indent="-342900" algn="l">
                        <a:spcAft>
                          <a:spcPts val="0"/>
                        </a:spcAft>
                        <a:buAutoNum type="arabicPeriod"/>
                      </a:pPr>
                      <a:endParaRPr lang="ru-RU"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Средняя производительность системы оценена на уровне </a:t>
                      </a:r>
                      <a:r>
                        <a:rPr lang="en-US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6000</a:t>
                      </a: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 сообщений в секунду, модуля сохранения телеметрии – 3100 сообщений в секунду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792187"/>
                  </a:ext>
                </a:extLst>
              </a:tr>
            </a:tbl>
          </a:graphicData>
        </a:graphic>
      </p:graphicFrame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6CE8517B-FD08-437D-B991-A6036F30A7D0}"/>
              </a:ext>
            </a:extLst>
          </p:cNvPr>
          <p:cNvSpPr/>
          <p:nvPr/>
        </p:nvSpPr>
        <p:spPr>
          <a:xfrm>
            <a:off x="550863" y="1403865"/>
            <a:ext cx="2487283" cy="151503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Установлено, что программный продукт соответствует требованиям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8" name="Rounded Rectangle 18">
            <a:extLst>
              <a:ext uri="{FF2B5EF4-FFF2-40B4-BE49-F238E27FC236}">
                <a16:creationId xmlns:a16="http://schemas.microsoft.com/office/drawing/2014/main" id="{266E875C-B5FE-46B2-BCB5-88B6A01A9820}"/>
              </a:ext>
            </a:extLst>
          </p:cNvPr>
          <p:cNvSpPr/>
          <p:nvPr/>
        </p:nvSpPr>
        <p:spPr>
          <a:xfrm>
            <a:off x="550863" y="4383539"/>
            <a:ext cx="2487283" cy="151503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Узкое место: прием и сохранение телеметрических данных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7779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04F466-5A37-4C58-87B0-E9FCEA41EBC0}"/>
              </a:ext>
            </a:extLst>
          </p:cNvPr>
          <p:cNvSpPr txBox="1"/>
          <p:nvPr/>
        </p:nvSpPr>
        <p:spPr>
          <a:xfrm>
            <a:off x="520550" y="1214180"/>
            <a:ext cx="4392110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В ходе работы выполнены этапы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8F9F4DA8-333C-4DDC-8B1A-44131E8F2525}"/>
              </a:ext>
            </a:extLst>
          </p:cNvPr>
          <p:cNvSpPr/>
          <p:nvPr/>
        </p:nvSpPr>
        <p:spPr>
          <a:xfrm>
            <a:off x="1255660" y="183893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Анализ предметной области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94A85E6C-31B0-482F-BEDF-8A5C432796AE}"/>
              </a:ext>
            </a:extLst>
          </p:cNvPr>
          <p:cNvSpPr/>
          <p:nvPr/>
        </p:nvSpPr>
        <p:spPr>
          <a:xfrm>
            <a:off x="2887236" y="182996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Анализ требований к ПП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8" name="Rounded Rectangle 18">
            <a:extLst>
              <a:ext uri="{FF2B5EF4-FFF2-40B4-BE49-F238E27FC236}">
                <a16:creationId xmlns:a16="http://schemas.microsoft.com/office/drawing/2014/main" id="{1E907D65-AB0D-4A89-9801-32C897A9BD98}"/>
              </a:ext>
            </a:extLst>
          </p:cNvPr>
          <p:cNvSpPr/>
          <p:nvPr/>
        </p:nvSpPr>
        <p:spPr>
          <a:xfrm>
            <a:off x="4518812" y="183893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Поиск методов решения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9" name="Rounded Rectangle 18">
            <a:extLst>
              <a:ext uri="{FF2B5EF4-FFF2-40B4-BE49-F238E27FC236}">
                <a16:creationId xmlns:a16="http://schemas.microsoft.com/office/drawing/2014/main" id="{80B00CB9-4C13-45CA-962A-3B9E24108960}"/>
              </a:ext>
            </a:extLst>
          </p:cNvPr>
          <p:cNvSpPr/>
          <p:nvPr/>
        </p:nvSpPr>
        <p:spPr>
          <a:xfrm>
            <a:off x="6150388" y="1829966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Реализация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831F63E4-B32D-42F2-BC37-31FA9782B58A}"/>
              </a:ext>
            </a:extLst>
          </p:cNvPr>
          <p:cNvSpPr/>
          <p:nvPr/>
        </p:nvSpPr>
        <p:spPr>
          <a:xfrm>
            <a:off x="7781964" y="183893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200" dirty="0">
                <a:solidFill>
                  <a:srgbClr val="272D3A"/>
                </a:solidFill>
                <a:latin typeface="Arial"/>
              </a:rPr>
              <a:t>Тестирование</a:t>
            </a:r>
            <a:endParaRPr sz="12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D0665EE1-401A-4346-9897-19704F3697F9}"/>
              </a:ext>
            </a:extLst>
          </p:cNvPr>
          <p:cNvSpPr/>
          <p:nvPr/>
        </p:nvSpPr>
        <p:spPr>
          <a:xfrm>
            <a:off x="9413540" y="1847901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200" dirty="0">
                <a:solidFill>
                  <a:srgbClr val="272D3A"/>
                </a:solidFill>
                <a:latin typeface="Arial"/>
              </a:rPr>
              <a:t>Ввод в эксплуатацию</a:t>
            </a:r>
            <a:endParaRPr sz="12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" name="Стрелка: вправо 1">
            <a:extLst>
              <a:ext uri="{FF2B5EF4-FFF2-40B4-BE49-F238E27FC236}">
                <a16:creationId xmlns:a16="http://schemas.microsoft.com/office/drawing/2014/main" id="{7DB38DD1-E8A3-4569-80A8-435CF00AE444}"/>
              </a:ext>
            </a:extLst>
          </p:cNvPr>
          <p:cNvSpPr/>
          <p:nvPr/>
        </p:nvSpPr>
        <p:spPr>
          <a:xfrm>
            <a:off x="2671787" y="2187973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7EBF72DB-AFE9-4BBF-82F3-6C6AD1D5D94A}"/>
              </a:ext>
            </a:extLst>
          </p:cNvPr>
          <p:cNvSpPr/>
          <p:nvPr/>
        </p:nvSpPr>
        <p:spPr>
          <a:xfrm>
            <a:off x="4303363" y="2161079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5" name="Стрелка: вправо 14">
            <a:extLst>
              <a:ext uri="{FF2B5EF4-FFF2-40B4-BE49-F238E27FC236}">
                <a16:creationId xmlns:a16="http://schemas.microsoft.com/office/drawing/2014/main" id="{BD325606-5ECB-4E41-A4C0-96F1BAE54F28}"/>
              </a:ext>
            </a:extLst>
          </p:cNvPr>
          <p:cNvSpPr/>
          <p:nvPr/>
        </p:nvSpPr>
        <p:spPr>
          <a:xfrm>
            <a:off x="5934939" y="2170038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6" name="Стрелка: вправо 15">
            <a:extLst>
              <a:ext uri="{FF2B5EF4-FFF2-40B4-BE49-F238E27FC236}">
                <a16:creationId xmlns:a16="http://schemas.microsoft.com/office/drawing/2014/main" id="{0B131705-ABA6-432B-A29D-739D564E686E}"/>
              </a:ext>
            </a:extLst>
          </p:cNvPr>
          <p:cNvSpPr/>
          <p:nvPr/>
        </p:nvSpPr>
        <p:spPr>
          <a:xfrm>
            <a:off x="7566515" y="2187973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7" name="Стрелка: вправо 16">
            <a:extLst>
              <a:ext uri="{FF2B5EF4-FFF2-40B4-BE49-F238E27FC236}">
                <a16:creationId xmlns:a16="http://schemas.microsoft.com/office/drawing/2014/main" id="{0DD76A16-421C-4F9D-A911-FBD1B7AF0C8B}"/>
              </a:ext>
            </a:extLst>
          </p:cNvPr>
          <p:cNvSpPr/>
          <p:nvPr/>
        </p:nvSpPr>
        <p:spPr>
          <a:xfrm>
            <a:off x="9198091" y="2179009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60F20D-7D3A-4ECB-923E-B5C1694FCE5D}"/>
              </a:ext>
            </a:extLst>
          </p:cNvPr>
          <p:cNvSpPr txBox="1"/>
          <p:nvPr/>
        </p:nvSpPr>
        <p:spPr>
          <a:xfrm>
            <a:off x="475732" y="2932437"/>
            <a:ext cx="4392110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Основные результаты работы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2178640-5984-45B0-AD30-1AE4F285DC54}"/>
              </a:ext>
            </a:extLst>
          </p:cNvPr>
          <p:cNvSpPr/>
          <p:nvPr/>
        </p:nvSpPr>
        <p:spPr>
          <a:xfrm>
            <a:off x="4437828" y="3439035"/>
            <a:ext cx="3889785" cy="416183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algn="ctr"/>
            <a:r>
              <a:rPr lang="ru-RU" sz="1600" dirty="0">
                <a:solidFill>
                  <a:srgbClr val="272D3A"/>
                </a:solidFill>
                <a:latin typeface="Arial"/>
              </a:rPr>
              <a:t>Система позиционного отслеживания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0" name="Rounded Rectangle 18">
            <a:extLst>
              <a:ext uri="{FF2B5EF4-FFF2-40B4-BE49-F238E27FC236}">
                <a16:creationId xmlns:a16="http://schemas.microsoft.com/office/drawing/2014/main" id="{58082363-FF3C-4580-874B-57706D22C3B6}"/>
              </a:ext>
            </a:extLst>
          </p:cNvPr>
          <p:cNvSpPr/>
          <p:nvPr/>
        </p:nvSpPr>
        <p:spPr>
          <a:xfrm>
            <a:off x="905435" y="4090689"/>
            <a:ext cx="1963271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</a:rPr>
              <a:t>Прием и сохранение телеметрических данных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1" name="Rounded Rectangle 18">
            <a:extLst>
              <a:ext uri="{FF2B5EF4-FFF2-40B4-BE49-F238E27FC236}">
                <a16:creationId xmlns:a16="http://schemas.microsoft.com/office/drawing/2014/main" id="{3DFF027B-0766-4041-99C7-C9367BD1A80B}"/>
              </a:ext>
            </a:extLst>
          </p:cNvPr>
          <p:cNvSpPr/>
          <p:nvPr/>
        </p:nvSpPr>
        <p:spPr>
          <a:xfrm>
            <a:off x="3299913" y="4090690"/>
            <a:ext cx="1765446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</a:rPr>
              <a:t>Просмотр актуальной телеметрии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2250962A-2A48-49DD-8C6A-5891747E6369}"/>
              </a:ext>
            </a:extLst>
          </p:cNvPr>
          <p:cNvSpPr/>
          <p:nvPr/>
        </p:nvSpPr>
        <p:spPr>
          <a:xfrm>
            <a:off x="5496566" y="4128039"/>
            <a:ext cx="1765446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</a:rPr>
              <a:t>Просмотр исторической телеметрии ТС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3" name="Rounded Rectangle 18">
            <a:extLst>
              <a:ext uri="{FF2B5EF4-FFF2-40B4-BE49-F238E27FC236}">
                <a16:creationId xmlns:a16="http://schemas.microsoft.com/office/drawing/2014/main" id="{B11C4722-AFBC-4499-8A16-FACAAA8F8792}"/>
              </a:ext>
            </a:extLst>
          </p:cNvPr>
          <p:cNvSpPr/>
          <p:nvPr/>
        </p:nvSpPr>
        <p:spPr>
          <a:xfrm>
            <a:off x="7693219" y="4098043"/>
            <a:ext cx="1765446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События зонального отслеживания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86E20C46-C2BA-44F5-8AFA-587AC07E1316}"/>
              </a:ext>
            </a:extLst>
          </p:cNvPr>
          <p:cNvSpPr/>
          <p:nvPr/>
        </p:nvSpPr>
        <p:spPr>
          <a:xfrm>
            <a:off x="9889871" y="4105837"/>
            <a:ext cx="185389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Пространственно-временной поиск телеметрии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37CB025D-A2CB-4FF8-9F77-6CE7B3B83F2B}"/>
              </a:ext>
            </a:extLst>
          </p:cNvPr>
          <p:cNvCxnSpPr>
            <a:stCxn id="19" idx="1"/>
            <a:endCxn id="20" idx="0"/>
          </p:cNvCxnSpPr>
          <p:nvPr/>
        </p:nvCxnSpPr>
        <p:spPr>
          <a:xfrm flipH="1">
            <a:off x="1887071" y="3647127"/>
            <a:ext cx="2550757" cy="4435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8CE3DB52-3685-463A-A290-C29835206757}"/>
              </a:ext>
            </a:extLst>
          </p:cNvPr>
          <p:cNvCxnSpPr>
            <a:stCxn id="19" idx="2"/>
            <a:endCxn id="21" idx="0"/>
          </p:cNvCxnSpPr>
          <p:nvPr/>
        </p:nvCxnSpPr>
        <p:spPr>
          <a:xfrm flipH="1">
            <a:off x="4182636" y="3855218"/>
            <a:ext cx="2200085" cy="235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DF39FD4E-B52D-402E-AC55-383A0EF936AE}"/>
              </a:ext>
            </a:extLst>
          </p:cNvPr>
          <p:cNvCxnSpPr>
            <a:stCxn id="19" idx="2"/>
            <a:endCxn id="22" idx="0"/>
          </p:cNvCxnSpPr>
          <p:nvPr/>
        </p:nvCxnSpPr>
        <p:spPr>
          <a:xfrm flipH="1">
            <a:off x="6379289" y="3855218"/>
            <a:ext cx="3432" cy="272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942DA4BD-794B-4898-A1AF-878C3A9F1A9B}"/>
              </a:ext>
            </a:extLst>
          </p:cNvPr>
          <p:cNvCxnSpPr>
            <a:stCxn id="19" idx="2"/>
            <a:endCxn id="23" idx="0"/>
          </p:cNvCxnSpPr>
          <p:nvPr/>
        </p:nvCxnSpPr>
        <p:spPr>
          <a:xfrm>
            <a:off x="6382721" y="3855218"/>
            <a:ext cx="2193221" cy="242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9354E285-F8F5-4606-85E2-7F529CFEF4B5}"/>
              </a:ext>
            </a:extLst>
          </p:cNvPr>
          <p:cNvCxnSpPr>
            <a:stCxn id="19" idx="3"/>
            <a:endCxn id="24" idx="0"/>
          </p:cNvCxnSpPr>
          <p:nvPr/>
        </p:nvCxnSpPr>
        <p:spPr>
          <a:xfrm>
            <a:off x="8327613" y="3647127"/>
            <a:ext cx="2489205" cy="4587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E1F860C-1A26-4FBD-BED1-01C68F449F62}"/>
              </a:ext>
            </a:extLst>
          </p:cNvPr>
          <p:cNvSpPr txBox="1"/>
          <p:nvPr/>
        </p:nvSpPr>
        <p:spPr>
          <a:xfrm>
            <a:off x="430608" y="5192724"/>
            <a:ext cx="4392110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Перспективы развития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40" name="Rounded Rectangle 18">
            <a:extLst>
              <a:ext uri="{FF2B5EF4-FFF2-40B4-BE49-F238E27FC236}">
                <a16:creationId xmlns:a16="http://schemas.microsoft.com/office/drawing/2014/main" id="{C9883E86-544A-4B81-98F2-7767F635DC0C}"/>
              </a:ext>
            </a:extLst>
          </p:cNvPr>
          <p:cNvSpPr/>
          <p:nvPr/>
        </p:nvSpPr>
        <p:spPr>
          <a:xfrm>
            <a:off x="906453" y="5794551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Построение маршрутов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41" name="Rounded Rectangle 18">
            <a:extLst>
              <a:ext uri="{FF2B5EF4-FFF2-40B4-BE49-F238E27FC236}">
                <a16:creationId xmlns:a16="http://schemas.microsoft.com/office/drawing/2014/main" id="{E51E3887-5871-4B9D-A4A6-4B45D8D337A0}"/>
              </a:ext>
            </a:extLst>
          </p:cNvPr>
          <p:cNvSpPr/>
          <p:nvPr/>
        </p:nvSpPr>
        <p:spPr>
          <a:xfrm>
            <a:off x="2476947" y="5794554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200" dirty="0">
                <a:solidFill>
                  <a:srgbClr val="272D3A"/>
                </a:solidFill>
                <a:latin typeface="Arial"/>
              </a:rPr>
              <a:t>Трассовое отслеживание</a:t>
            </a:r>
            <a:endParaRPr sz="12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42" name="Rounded Rectangle 18">
            <a:extLst>
              <a:ext uri="{FF2B5EF4-FFF2-40B4-BE49-F238E27FC236}">
                <a16:creationId xmlns:a16="http://schemas.microsoft.com/office/drawing/2014/main" id="{3FF17AED-9C83-4686-A150-A785886B426E}"/>
              </a:ext>
            </a:extLst>
          </p:cNvPr>
          <p:cNvSpPr/>
          <p:nvPr/>
        </p:nvSpPr>
        <p:spPr>
          <a:xfrm>
            <a:off x="4080741" y="5794553"/>
            <a:ext cx="2075028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Передача данных на оборудование (звонки, тахографы)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4851C47E-44E6-4DE6-B9C5-480874A9579B}"/>
              </a:ext>
            </a:extLst>
          </p:cNvPr>
          <p:cNvSpPr/>
          <p:nvPr/>
        </p:nvSpPr>
        <p:spPr>
          <a:xfrm>
            <a:off x="6365837" y="5794552"/>
            <a:ext cx="1514139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Учет транспортной работы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7779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4F707855-C815-4FF1-B493-8351700E1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67416" y="2677297"/>
            <a:ext cx="6673723" cy="1997341"/>
          </a:xfrm>
        </p:spPr>
        <p:txBody>
          <a:bodyPr>
            <a:normAutofit/>
          </a:bodyPr>
          <a:lstStyle/>
          <a:p>
            <a:pPr algn="l"/>
            <a:r>
              <a:rPr lang="ru-RU" sz="4800" dirty="0"/>
              <a:t>Спасибо за внимание!</a:t>
            </a:r>
          </a:p>
        </p:txBody>
      </p:sp>
      <p:sp>
        <p:nvSpPr>
          <p:cNvPr id="4" name="Текст 2">
            <a:extLst>
              <a:ext uri="{FF2B5EF4-FFF2-40B4-BE49-F238E27FC236}">
                <a16:creationId xmlns:a16="http://schemas.microsoft.com/office/drawing/2014/main" id="{DB9E92ED-35AE-4EDF-9915-68D689B9F573}"/>
              </a:ext>
            </a:extLst>
          </p:cNvPr>
          <p:cNvSpPr txBox="1">
            <a:spLocks/>
          </p:cNvSpPr>
          <p:nvPr/>
        </p:nvSpPr>
        <p:spPr>
          <a:xfrm>
            <a:off x="4967416" y="4273095"/>
            <a:ext cx="6330950" cy="8411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32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242834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Быстров М.Д., 4131з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srgbClr val="242834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272D3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Фомин А.В., к.т.н., доц.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242834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2730711"/>
      </p:ext>
    </p:extLst>
  </p:cSld>
  <p:clrMapOvr>
    <a:masterClrMapping/>
  </p:clrMapOvr>
</p:sld>
</file>

<file path=ppt/theme/theme1.xml><?xml version="1.0" encoding="utf-8"?>
<a:theme xmlns:a="http://schemas.openxmlformats.org/drawingml/2006/main" name="Титульная страница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75426110-BF82-4921-B51E-81780A536C48}"/>
    </a:ext>
  </a:extLst>
</a:theme>
</file>

<file path=ppt/theme/theme2.xml><?xml version="1.0" encoding="utf-8"?>
<a:theme xmlns:a="http://schemas.openxmlformats.org/drawingml/2006/main" name="Текстов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8C20C85A-CFD0-4C40-80A0-6689F915CE1B}"/>
    </a:ext>
  </a:extLst>
</a:theme>
</file>

<file path=ppt/theme/theme3.xml><?xml version="1.0" encoding="utf-8"?>
<a:theme xmlns:a="http://schemas.openxmlformats.org/drawingml/2006/main" name="Дополнительн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AFBC0B84-8B15-49D7-9C5E-B813409B8E8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ГУАП презентация курса - шаблон</Template>
  <TotalTime>19634</TotalTime>
  <Words>977</Words>
  <Application>Microsoft Office PowerPoint</Application>
  <PresentationFormat>Широкоэкранный</PresentationFormat>
  <Paragraphs>184</Paragraphs>
  <Slides>14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Arial</vt:lpstr>
      <vt:lpstr>Calibri</vt:lpstr>
      <vt:lpstr>roboto</vt:lpstr>
      <vt:lpstr>Wingdings</vt:lpstr>
      <vt:lpstr>Титульная страница</vt:lpstr>
      <vt:lpstr>Текстовые блоки</vt:lpstr>
      <vt:lpstr>Дополнительные блоки</vt:lpstr>
      <vt:lpstr>Разработка системы позиционного отслеживания транспортных средств с обработкой событий в реальном времени</vt:lpstr>
      <vt:lpstr>Цель</vt:lpstr>
      <vt:lpstr>Задачи</vt:lpstr>
      <vt:lpstr>Актуальность</vt:lpstr>
      <vt:lpstr>Выбранные методы, решения, подходы, стек технологий</vt:lpstr>
      <vt:lpstr>Выбранные методы, решения, подходы, стек технологий   </vt:lpstr>
      <vt:lpstr>Описание решения</vt:lpstr>
      <vt:lpstr>Описание решения</vt:lpstr>
      <vt:lpstr>Описание решения</vt:lpstr>
      <vt:lpstr>Результаты</vt:lpstr>
      <vt:lpstr>Результаты</vt:lpstr>
      <vt:lpstr>Тестирование</vt:lpstr>
      <vt:lpstr>Заключение</vt:lpstr>
      <vt:lpstr>Презентация PowerPoint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Фирменный стиль  презентаций</dc:title>
  <dc:creator>Быстров Максим</dc:creator>
  <cp:lastModifiedBy>user</cp:lastModifiedBy>
  <cp:revision>173</cp:revision>
  <dcterms:created xsi:type="dcterms:W3CDTF">2023-06-16T08:15:39Z</dcterms:created>
  <dcterms:modified xsi:type="dcterms:W3CDTF">2026-06-21T20:31:12Z</dcterms:modified>
</cp:coreProperties>
</file>